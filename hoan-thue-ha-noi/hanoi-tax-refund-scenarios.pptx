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280160"/>
            <a:ext cx="4297680" cy="429768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502920"/>
            <a:ext cx="1097280" cy="1097280"/>
          </a:xfrm>
          <a:prstGeom prst="ellipse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DOCUMENT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refund at Hanoi City Tax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0D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model and next actions following the Department of Taxation’s guidance letter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refund file is on hold pending the Department of Taxation’s guidance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parties have not yet agreed on how the relevant regulation should be interpreted.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66519" y="3063240"/>
            <a:ext cx="8455914" cy="0"/>
          </a:xfrm>
          <a:prstGeom prst="line">
            <a:avLst/>
          </a:prstGeom>
          <a:noFill/>
          <a:ln w="25400">
            <a:solidFill>
              <a:srgbClr val="BBBC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66519" y="3063240"/>
            <a:ext cx="2818638" cy="0"/>
          </a:xfrm>
          <a:prstGeom prst="line">
            <a:avLst/>
          </a:prstGeom>
          <a:noFill/>
          <a:ln w="38100">
            <a:solidFill>
              <a:srgbClr val="86BC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9359" y="2926080"/>
            <a:ext cx="274320" cy="27432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566160"/>
            <a:ext cx="24528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requested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023360"/>
            <a:ext cx="23614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and the client each sent an official letter to the Department of Taxation (DoT) asking for guidance.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2549" y="277063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2277" y="2880360"/>
            <a:ext cx="365760" cy="36576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62197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46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HERE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58718" y="3566160"/>
            <a:ext cx="24528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reviewing internally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04438" y="4023360"/>
            <a:ext cx="23614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DoT is processing the request and preparing a guidance letter.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635" y="292608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7999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7356" y="3566160"/>
            <a:ext cx="24528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issues guidance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23076" y="4023360"/>
            <a:ext cx="23614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trigger point for the scenario model in this document.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185273" y="292608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7999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95994" y="3566160"/>
            <a:ext cx="24528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decides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4023360"/>
            <a:ext cx="23614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the guidance, Hanoi City Tax either approves or rejects the refund.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11274552" cy="685800"/>
          </a:xfrm>
          <a:prstGeom prst="rect">
            <a:avLst/>
          </a:prstGeom>
          <a:solidFill>
            <a:srgbClr val="F1F6E4"/>
          </a:solidFill>
          <a:ln w="12700">
            <a:solidFill>
              <a:srgbClr val="F1F6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4406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6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plan now: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guidance is issued, Hanoi City Tax may act quickly. Agreeing the response to each scenario in advance lets the client react within days instead of weeks.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refund at Hanoi City Tax  |  Scenario model  |  Discussion document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escalation steps, each with a clear exit if the outcome is favourable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view of the scenario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057400" cy="2331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783080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issues guidance letter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8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the letter on issuance and align on its interpretation with the client.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rot="5400000">
            <a:off x="2523744" y="2734056"/>
            <a:ext cx="228600" cy="164592"/>
          </a:xfrm>
          <a:prstGeom prst="triangle">
            <a:avLst/>
          </a:prstGeom>
          <a:solidFill>
            <a:srgbClr val="97999B"/>
          </a:solidFill>
          <a:ln w="12700">
            <a:solidFill>
              <a:srgbClr val="9799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1645920"/>
            <a:ext cx="2057400" cy="2331720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98648" y="1783080"/>
            <a:ext cx="384048" cy="384048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9864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258568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Leadership-level discussion with Hanoi City Tax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8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meeting to learn Hanoi City Tax’s position before any minutes or decision are issued.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rot="5400000">
            <a:off x="4828032" y="2734056"/>
            <a:ext cx="228600" cy="164592"/>
          </a:xfrm>
          <a:prstGeom prst="triangle">
            <a:avLst/>
          </a:prstGeom>
          <a:solidFill>
            <a:srgbClr val="97999B"/>
          </a:solidFill>
          <a:ln w="12700">
            <a:solidFill>
              <a:srgbClr val="9799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88" y="4160520"/>
            <a:ext cx="2057400" cy="960120"/>
          </a:xfrm>
          <a:prstGeom prst="rect">
            <a:avLst/>
          </a:prstGeom>
          <a:solidFill>
            <a:srgbClr val="F1F6E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71216" y="420624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IF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approved, or client accepts carry-forward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61488" y="525780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71216" y="530352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IF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rejected, or carry-forward only and client still wants a refund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65776" y="1645920"/>
            <a:ext cx="2057400" cy="2331720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02936" y="1783080"/>
            <a:ext cx="384048" cy="384048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0293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02936" y="2258568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letter to Hanoi City Tax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8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to the DoT. Request the refund, propose a joint meeting, and state the intention to escalate.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132320" y="2734056"/>
            <a:ext cx="228600" cy="164592"/>
          </a:xfrm>
          <a:prstGeom prst="triangle">
            <a:avLst/>
          </a:prstGeom>
          <a:solidFill>
            <a:srgbClr val="97999B"/>
          </a:solidFill>
          <a:ln w="12700">
            <a:solidFill>
              <a:srgbClr val="9799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65776" y="4160520"/>
            <a:ext cx="2057400" cy="960120"/>
          </a:xfrm>
          <a:prstGeom prst="rect">
            <a:avLst/>
          </a:prstGeom>
          <a:solidFill>
            <a:srgbClr val="F1F6E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75504" y="420624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IF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approves, or joint meeting agrees on refund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65776" y="525780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75504" y="530352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IF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maintained, or unilateral inspection minutes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70064" y="1645920"/>
            <a:ext cx="2057400" cy="2331720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07224" y="1783080"/>
            <a:ext cx="384048" cy="384048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0722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07224" y="2258568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Petition to the Ministry of Finance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8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to MoF leadership; copy DoT, Hanoi City Tax, the Embassy and JCCI.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rot="5400000">
            <a:off x="9436608" y="2734056"/>
            <a:ext cx="228600" cy="164592"/>
          </a:xfrm>
          <a:prstGeom prst="triangle">
            <a:avLst/>
          </a:prstGeom>
          <a:solidFill>
            <a:srgbClr val="97999B"/>
          </a:solidFill>
          <a:ln w="12700">
            <a:solidFill>
              <a:srgbClr val="97999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0064" y="4160520"/>
            <a:ext cx="2057400" cy="960120"/>
          </a:xfrm>
          <a:prstGeom prst="rect">
            <a:avLst/>
          </a:prstGeom>
          <a:solidFill>
            <a:srgbClr val="F1F6E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79792" y="420624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IF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authorities’ unified position approves the refund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70064" y="525780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79792" y="530352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IF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position rejects the refund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674352" y="1645920"/>
            <a:ext cx="2057400" cy="2331720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11512" y="1783080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decides on further recourse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complaint (low chance of success) or administrative lawsuit.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refund at Hanoi City Tax  |  Scenario model  |  Discussion document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an early, informal discussion reveals which of three scenarios applies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at leadership level so the position we hear is reliable. No written submission is needed yet.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3154680"/>
            <a:ext cx="2377440" cy="118872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3209544"/>
            <a:ext cx="21579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with Hanoi City Tax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level, informal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0" y="1600200"/>
            <a:ext cx="2743200" cy="914400"/>
          </a:xfrm>
          <a:prstGeom prst="rect">
            <a:avLst/>
          </a:prstGeom>
          <a:solidFill>
            <a:srgbClr val="F1F6E4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4448" y="1655064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approved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is clear to Hanoi City Tax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01768" y="1673352"/>
            <a:ext cx="1143000" cy="201168"/>
          </a:xfrm>
          <a:prstGeom prst="rect">
            <a:avLst/>
          </a:prstGeom>
          <a:solidFill>
            <a:srgbClr val="3C8F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FAVOURABLE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0" y="3200400"/>
            <a:ext cx="27432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3255264"/>
            <a:ext cx="2523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refund; carry-forward allowed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credited against future tax periods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001768" y="3273552"/>
            <a:ext cx="1143000" cy="201168"/>
          </a:xfrm>
          <a:prstGeom prst="rect">
            <a:avLst/>
          </a:prstGeom>
          <a:solidFill>
            <a:srgbClr val="ED8B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74720" y="4983480"/>
            <a:ext cx="27432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84448" y="5038344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3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rejected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refund and no carry-forward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001768" y="5056632"/>
            <a:ext cx="1143000" cy="201168"/>
          </a:xfrm>
          <a:prstGeom prst="rect">
            <a:avLst/>
          </a:prstGeom>
          <a:solidFill>
            <a:srgbClr val="DA29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34640" y="374904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154680" y="2057400"/>
            <a:ext cx="91" cy="338328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205740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154680" y="374904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54680" y="544068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03720" y="1600200"/>
            <a:ext cx="2514600" cy="914400"/>
          </a:xfrm>
          <a:prstGeom prst="rect">
            <a:avLst/>
          </a:prstGeom>
          <a:solidFill>
            <a:srgbClr val="F1F6E4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13448" y="1655064"/>
            <a:ext cx="2295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processed; case closed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2788920"/>
            <a:ext cx="25146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13448" y="2843784"/>
            <a:ext cx="22951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2.1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accepts carry-forward; case closed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3840480"/>
            <a:ext cx="25146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13448" y="3895344"/>
            <a:ext cx="22951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2.2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still requests a refund; treated as Scenario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4983480"/>
            <a:ext cx="2514600" cy="91440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13448" y="5038344"/>
            <a:ext cx="2295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Step 2: formal letter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2057400"/>
            <a:ext cx="68580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17920" y="5440680"/>
            <a:ext cx="68580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217920" y="3749040"/>
            <a:ext cx="36576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3218688"/>
            <a:ext cx="91" cy="1060704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3218688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83680" y="4279392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161020" y="4709160"/>
            <a:ext cx="91" cy="27432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784080" y="1600200"/>
            <a:ext cx="1947672" cy="4297680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21240" y="1737360"/>
            <a:ext cx="167335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900" b="1" spc="100" kern="0" dirty="0">
                <a:solidFill>
                  <a:srgbClr val="046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DECISION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carry-forward acceptable?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Scenario 2 the amount is not refunded in cash. It is offset against future tax payable, and it is not known how long full utilisation would take.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Agreeing this in advance decides whether the file stops at 2.1 or moves on to Step 2.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6126480"/>
            <a:ext cx="256032" cy="164592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06040" y="6126480"/>
            <a:ext cx="256032" cy="164592"/>
          </a:xfrm>
          <a:prstGeom prst="rect">
            <a:avLst/>
          </a:prstGeom>
          <a:solidFill>
            <a:srgbClr val="F1F6E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93522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Favourable outcome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612648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01184" y="6126480"/>
            <a:ext cx="109728" cy="64008"/>
          </a:xfrm>
          <a:prstGeom prst="rect">
            <a:avLst/>
          </a:prstGeom>
          <a:solidFill>
            <a:srgbClr val="ED8B00"/>
          </a:solidFill>
          <a:ln w="6350">
            <a:solidFill>
              <a:srgbClr val="ED8B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8406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outcome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612648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50024" y="6126480"/>
            <a:ext cx="109728" cy="64008"/>
          </a:xfrm>
          <a:prstGeom prst="rect">
            <a:avLst/>
          </a:prstGeom>
          <a:solidFill>
            <a:srgbClr val="DA291C"/>
          </a:solidFill>
          <a:ln w="6350">
            <a:solidFill>
              <a:srgbClr val="DA291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3290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 outcome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refund at Hanoi City Tax  |  Scenario model  |  Discussion document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 formal letter creates a written record before Hanoi City Tax acts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by Scenario 3 or Scenario 2.2. Hanoi City Tax may respond in one of four ways.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2606040" cy="228600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569464"/>
            <a:ext cx="238658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letter to Hanoi City Tax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to the DoT.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copying the MoF, the Embassy and JCCI.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Content: see next slide.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03320" y="1554480"/>
            <a:ext cx="2834640" cy="914400"/>
          </a:xfrm>
          <a:prstGeom prst="rect">
            <a:avLst/>
          </a:prstGeom>
          <a:solidFill>
            <a:srgbClr val="F1F6E4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13048" y="1609344"/>
            <a:ext cx="26151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approves the refund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321808" y="1627632"/>
            <a:ext cx="1143000" cy="201168"/>
          </a:xfrm>
          <a:prstGeom prst="rect">
            <a:avLst/>
          </a:prstGeom>
          <a:solidFill>
            <a:srgbClr val="3C8F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FAVOURABLE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03320" y="2697480"/>
            <a:ext cx="28346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13048" y="2752344"/>
            <a:ext cx="26151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B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meeting of the parties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reports to the DoT, which chairs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2770632"/>
            <a:ext cx="1143000" cy="201168"/>
          </a:xfrm>
          <a:prstGeom prst="rect">
            <a:avLst/>
          </a:prstGeom>
          <a:solidFill>
            <a:srgbClr val="ED8B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03320" y="3840480"/>
            <a:ext cx="28346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13048" y="3895344"/>
            <a:ext cx="26151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Unilateral inspection minutes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is entitled to do this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321808" y="3913632"/>
            <a:ext cx="1143000" cy="201168"/>
          </a:xfrm>
          <a:prstGeom prst="rect">
            <a:avLst/>
          </a:prstGeom>
          <a:solidFill>
            <a:srgbClr val="DA29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703320" y="4983480"/>
            <a:ext cx="28346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13048" y="5038344"/>
            <a:ext cx="26151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maintained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written reply, or no response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321808" y="5056632"/>
            <a:ext cx="1143000" cy="201168"/>
          </a:xfrm>
          <a:prstGeom prst="rect">
            <a:avLst/>
          </a:prstGeom>
          <a:solidFill>
            <a:srgbClr val="DA29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063240" y="365760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83280" y="2011680"/>
            <a:ext cx="91" cy="342900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201168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383280" y="315468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83280" y="429768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383280" y="544068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49440" y="1554480"/>
            <a:ext cx="2743200" cy="914400"/>
          </a:xfrm>
          <a:prstGeom prst="rect">
            <a:avLst/>
          </a:prstGeom>
          <a:solidFill>
            <a:srgbClr val="F1F6E4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59168" y="1609344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processed; case closed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2697480"/>
            <a:ext cx="27432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59168" y="2752344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leads to a refund. If still adverse, go to Step 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0" y="3840480"/>
            <a:ext cx="27432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59168" y="3895344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RESPONSE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disagreement in the minutes; ask for the file to be held pending MoF guidance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9440" y="4983480"/>
            <a:ext cx="27432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59168" y="5038344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RESPONSE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written position as the basis for escalation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37960" y="2011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37960" y="3154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537960" y="4297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537960" y="5440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04120" y="2697480"/>
            <a:ext cx="1627632" cy="320040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13848" y="2752344"/>
            <a:ext cx="140817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Petition to the Ministry of Finance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692640" y="3154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92640" y="4297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92640" y="5440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7200" y="6126480"/>
            <a:ext cx="256032" cy="164592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638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action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06040" y="6126480"/>
            <a:ext cx="256032" cy="164592"/>
          </a:xfrm>
          <a:prstGeom prst="rect">
            <a:avLst/>
          </a:prstGeom>
          <a:solidFill>
            <a:srgbClr val="F1F6E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93522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Favourable outcome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612648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01184" y="6126480"/>
            <a:ext cx="109728" cy="64008"/>
          </a:xfrm>
          <a:prstGeom prst="rect">
            <a:avLst/>
          </a:prstGeom>
          <a:solidFill>
            <a:srgbClr val="ED8B00"/>
          </a:solidFill>
          <a:ln w="6350">
            <a:solidFill>
              <a:srgbClr val="ED8B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8406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outcome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612648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50024" y="6126480"/>
            <a:ext cx="109728" cy="64008"/>
          </a:xfrm>
          <a:prstGeom prst="rect">
            <a:avLst/>
          </a:prstGeom>
          <a:solidFill>
            <a:srgbClr val="DA291C"/>
          </a:solidFill>
          <a:ln w="6350">
            <a:solidFill>
              <a:srgbClr val="DA291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3290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 outcome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refund at Hanoi City Tax  |  Scenario model  |  Discussion document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escalation to the Ministry of Finance leads to a final, unified position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directly to MoF leadership, not back to the DoT, and only once Hanoi City Tax has acted or responded in writing.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2514600" cy="182880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706624"/>
            <a:ext cx="22951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Petition to the Ministry of Finance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MoF leadership; copy DoT, Hanoi City Tax, the Embassy and JCCI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520440" y="1600200"/>
            <a:ext cx="28346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30168" y="1655064"/>
            <a:ext cx="2615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RESPONSE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Directs the DoT to convene an inter-agency meeting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138928" y="1673352"/>
            <a:ext cx="1143000" cy="201168"/>
          </a:xfrm>
          <a:prstGeom prst="rect">
            <a:avLst/>
          </a:prstGeom>
          <a:solidFill>
            <a:srgbClr val="046A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520440" y="3063240"/>
            <a:ext cx="283464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168" y="3118104"/>
            <a:ext cx="26151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RESPONSE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Replies directly in writing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20440" y="4434840"/>
            <a:ext cx="283464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97999B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630168" y="4489704"/>
            <a:ext cx="26151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refers the file back to the DoT or Hanoi City Tax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returns to discussions with Hanoi City Tax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356616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46120" y="2148840"/>
            <a:ext cx="91" cy="288036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214884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46120" y="356616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46120" y="502920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03720" y="2331720"/>
            <a:ext cx="2331720" cy="173736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13448" y="2386584"/>
            <a:ext cx="211226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unified position of the tax authorities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MoF, DoT and Hanoi City Tax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55080" y="214884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56616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148840"/>
            <a:ext cx="91" cy="141732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320040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84080" y="1600200"/>
            <a:ext cx="1947672" cy="1188720"/>
          </a:xfrm>
          <a:prstGeom prst="rect">
            <a:avLst/>
          </a:prstGeom>
          <a:solidFill>
            <a:srgbClr val="F1F6E4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93808" y="1655064"/>
            <a:ext cx="17282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processed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784080" y="3154680"/>
            <a:ext cx="1947672" cy="246888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93808" y="3209544"/>
            <a:ext cx="17282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considers further recourse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complaint: low chance of success, as the MoF and DoT have already aligned.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lawsuit before the court.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rests with the client.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235440" y="320040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0" y="2194560"/>
            <a:ext cx="91" cy="219456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0" y="219456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509760" y="438912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7200" y="6126480"/>
            <a:ext cx="256032" cy="164592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638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06040" y="6126480"/>
            <a:ext cx="256032" cy="164592"/>
          </a:xfrm>
          <a:prstGeom prst="rect">
            <a:avLst/>
          </a:prstGeom>
          <a:solidFill>
            <a:srgbClr val="F1F6E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93522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Favourable outcome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612648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01184" y="6126480"/>
            <a:ext cx="109728" cy="64008"/>
          </a:xfrm>
          <a:prstGeom prst="rect">
            <a:avLst/>
          </a:prstGeom>
          <a:solidFill>
            <a:srgbClr val="ED8B00"/>
          </a:solidFill>
          <a:ln w="6350">
            <a:solidFill>
              <a:srgbClr val="ED8B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08406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outcome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612648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50024" y="6126480"/>
            <a:ext cx="109728" cy="64008"/>
          </a:xfrm>
          <a:prstGeom prst="rect">
            <a:avLst/>
          </a:prstGeom>
          <a:solidFill>
            <a:srgbClr val="DA291C"/>
          </a:solidFill>
          <a:ln w="6350">
            <a:solidFill>
              <a:srgbClr val="DA291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3290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 outcome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refund at Hanoi City Tax  |  Scenario model  |  Discussion document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 2 letter makes three points and signals the escalation path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291840" cy="4663440"/>
          </a:xfrm>
          <a:prstGeom prst="rect">
            <a:avLst/>
          </a:prstGeom>
          <a:solidFill>
            <a:srgbClr val="1C3D26"/>
          </a:solidFill>
          <a:ln w="12700">
            <a:solidFill>
              <a:srgbClr val="1C3D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2743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Taxation, the authority that issued the guidance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COPYING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Finance, the Embassy, JCCI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 after Step 1, if Hanoi City Tax’s position is unfavourable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206240" y="1554480"/>
            <a:ext cx="548640" cy="54864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50876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the refund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reads the DoT’s guidance as confirming eligibility for the refund, and asks Hanoi City Tax to process it.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06240" y="3108960"/>
            <a:ext cx="548640" cy="54864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06324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a joint meeting if the guidance is unclear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Hanoi City Tax considers the guidance insufficiently clear, it is asked to report to the DoT and arrange a meeting of the parties (with the MoF, the Embassy and JCCI where appropriate) to reach a unified view.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06240" y="4663440"/>
            <a:ext cx="548640" cy="54864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461772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intention to escalate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Hanoi City Tax still does not agree, the client will petition the Ministry of Finance and copy the relevant parties.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refund at Hanoi City Tax  |  Scenario model  |  Discussion document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scenarios and client actions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108960"/>
                <a:gridCol w="4599432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Hanoi City Tax position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Approves the refund in line with the DoT guidance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the refund formalities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C8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refund; carry-forward allowed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 carry-forward and close the 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Carry-forward; 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refund; carry-forward allowed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request a refund (utilisation period uncertain); treat as Scenario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A29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to Step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Rejects the refund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2 formal letter; if still adverse, Step 3 petition to the MoF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A29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final position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 minutes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Issues inspection minutes unilaterally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 disagreement; request the file be held pending MoF guidance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A29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to Step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position rejects the refund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considers an administrative complaint or lawsuit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A29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decision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refund at Hanoi City Tax  |  Scenario model  |  Discussion document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principles guide how we manage the case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5541264" cy="2057400"/>
          </a:xfrm>
          <a:prstGeom prst="rect">
            <a:avLst/>
          </a:prstGeom>
          <a:solidFill>
            <a:srgbClr val="F1F6E4"/>
          </a:solidFill>
          <a:ln w="12700">
            <a:solidFill>
              <a:srgbClr val="F1F6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74520"/>
            <a:ext cx="685800" cy="68580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874520"/>
            <a:ext cx="4078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position early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Hanoi City Tax at leadership level as soon as the guidance is issued. Waiting for minutes or a decision leaves too little time to respond.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190488" y="1600200"/>
            <a:ext cx="5541264" cy="20574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64808" y="1874520"/>
            <a:ext cx="685800" cy="68580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0574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79208" y="1874520"/>
            <a:ext cx="4078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in sequence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Petition the MoF only after Hanoi City Tax has acted or replied in writing. Escalating earlier risks the MoF referring the file back, since the DoT has already given guidance.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57200" y="3931920"/>
            <a:ext cx="5541264" cy="20574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4206240"/>
            <a:ext cx="685800" cy="68580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891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206240"/>
            <a:ext cx="4078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written record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 2 letter is the basis for the client’s comments in any minutes and for escalation if Hanoi City Tax acts unilaterally.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190488" y="3931920"/>
            <a:ext cx="5541264" cy="2057400"/>
          </a:xfrm>
          <a:prstGeom prst="rect">
            <a:avLst/>
          </a:prstGeom>
          <a:solidFill>
            <a:srgbClr val="F1F6E4"/>
          </a:solidFill>
          <a:ln w="12700">
            <a:solidFill>
              <a:srgbClr val="F1F6E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64808" y="4206240"/>
            <a:ext cx="685800" cy="68580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3891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79208" y="4206240"/>
            <a:ext cx="4078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what we can control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is entitled to issue minutes and decisions unilaterally. The client cannot prevent this, but can manage the situation at every step.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refund at Hanoi City Tax  |  Scenario model  |  Discussion document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actions and decisions needed from the client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541264" cy="46634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91640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490118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the DoT’s guidance and obtain a copy as soon as it is issued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the guidance and prepare the client’s arguments for Step 1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 the leadership-level meeting with Hanoi City Tax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Pre-draft the Step 2 letter so it can be sent immediately if needed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all correspondence to date for a possible MoF petition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90488" y="1463040"/>
            <a:ext cx="5541264" cy="4663440"/>
          </a:xfrm>
          <a:prstGeom prst="rect">
            <a:avLst/>
          </a:prstGeom>
          <a:solidFill>
            <a:srgbClr val="F1F6E4"/>
          </a:solidFill>
          <a:ln w="12700">
            <a:solidFill>
              <a:srgbClr val="F1F6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4808" y="1691640"/>
            <a:ext cx="548640" cy="54864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8288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50608" y="1691640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decisions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10528" y="2514600"/>
            <a:ext cx="490118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carry-forward (Scenario 2) is an acceptable outcome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to copy the MoF, the Embassy and JCCI on the Step 2 letter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Appetite for an administrative complaint or lawsuit if the final position is adverse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refund at Hanoi City Tax  |  Scenario model  |  Discussion document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 refund at Hanoi City Tax: scenario model</dc:title>
  <dc:subject>PptxGenJS Presentation</dc:subject>
  <dc:creator>PptxGenJS</dc:creator>
  <cp:lastModifiedBy>PptxGenJS</cp:lastModifiedBy>
  <cp:revision>1</cp:revision>
  <dcterms:created xsi:type="dcterms:W3CDTF">2026-09-26T16:50:11Z</dcterms:created>
  <dcterms:modified xsi:type="dcterms:W3CDTF">2026-09-26T16:50:11Z</dcterms:modified>
</cp:coreProperties>
</file>