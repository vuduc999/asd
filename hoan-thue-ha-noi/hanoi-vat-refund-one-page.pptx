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YMVN decision needed in advance: is carry-forward acceptable? Under Scenario 2 the amount is not refunded in cash; it is offset against future tax payable, and it is not known how long full utilisation would take. The answer decides whether the file stops at 2.1 or moves on to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02920"/>
          </a:xfrm>
          <a:prstGeom prst="rect">
            <a:avLst/>
          </a:prstGeom>
          <a:noFill/>
          <a:ln/>
        </p:spPr>
        <p:txBody>
          <a:bodyPr wrap="square" lIns="0" tIns="0" rIns="0" bIns="0" rtlCol="0" anchor="t"/>
          <a:lstStyle/>
          <a:p>
            <a:pPr indent="0" marL="0">
              <a:buNone/>
            </a:pPr>
            <a:r>
              <a:rPr lang="en-US" sz="2400" b="1" dirty="0">
                <a:solidFill>
                  <a:srgbClr val="000000"/>
                </a:solidFill>
                <a:latin typeface="Arial" pitchFamily="34" charset="0"/>
                <a:ea typeface="Arial" pitchFamily="34" charset="-122"/>
                <a:cs typeface="Arial" pitchFamily="34" charset="-120"/>
              </a:rPr>
              <a:t>Three escalation steps, with a way out of the dispute at every stage</a:t>
            </a:r>
            <a:endParaRPr lang="en-US" sz="2400" dirty="0"/>
          </a:p>
        </p:txBody>
      </p:sp>
      <p:sp>
        <p:nvSpPr>
          <p:cNvPr id="3" name="Text 1"/>
          <p:cNvSpPr txBox="1"/>
          <p:nvPr/>
        </p:nvSpPr>
        <p:spPr>
          <a:xfrm>
            <a:off x="457200" y="804672"/>
            <a:ext cx="11247120" cy="320040"/>
          </a:xfrm>
          <a:prstGeom prst="rect">
            <a:avLst/>
          </a:prstGeom>
          <a:noFill/>
          <a:ln/>
        </p:spPr>
        <p:txBody>
          <a:bodyPr wrap="square" lIns="0" tIns="0" rIns="0" bIns="0" rtlCol="0" anchor="t"/>
          <a:lstStyle/>
          <a:p>
            <a:pPr indent="0" marL="0">
              <a:buNone/>
            </a:pPr>
            <a:r>
              <a:rPr lang="en-US" sz="1200" dirty="0">
                <a:solidFill>
                  <a:srgbClr val="63666A"/>
                </a:solidFill>
                <a:latin typeface="Arial" pitchFamily="34" charset="0"/>
                <a:ea typeface="Arial" pitchFamily="34" charset="-122"/>
                <a:cs typeface="Arial" pitchFamily="34" charset="-120"/>
              </a:rPr>
              <a:t>Moving right means escalating. Boxes above the line close the case or lead to a decision; boxes below the line push the case to the next step.</a:t>
            </a:r>
            <a:endParaRPr lang="en-US" sz="1200" dirty="0"/>
          </a:p>
        </p:txBody>
      </p:sp>
      <p:sp>
        <p:nvSpPr>
          <p:cNvPr id="4" name="Shape 2"/>
          <p:cNvSpPr/>
          <p:nvPr/>
        </p:nvSpPr>
        <p:spPr>
          <a:xfrm>
            <a:off x="457200" y="3264408"/>
            <a:ext cx="2331720" cy="886968"/>
          </a:xfrm>
          <a:prstGeom prst="rect">
            <a:avLst/>
          </a:prstGeom>
          <a:solidFill>
            <a:srgbClr val="046A38"/>
          </a:solidFill>
          <a:ln w="15875">
            <a:solidFill>
              <a:srgbClr val="046A38"/>
            </a:solidFill>
            <a:prstDash val="solid"/>
          </a:ln>
        </p:spPr>
      </p:sp>
      <p:sp>
        <p:nvSpPr>
          <p:cNvPr id="5" name="Text 3"/>
          <p:cNvSpPr txBox="1"/>
          <p:nvPr/>
        </p:nvSpPr>
        <p:spPr>
          <a:xfrm>
            <a:off x="548640" y="3328416"/>
            <a:ext cx="2148840" cy="777240"/>
          </a:xfrm>
          <a:prstGeom prst="rect">
            <a:avLst/>
          </a:prstGeom>
          <a:noFill/>
          <a:ln/>
        </p:spPr>
        <p:txBody>
          <a:bodyPr wrap="square" lIns="0" tIns="0" rIns="0" bIns="0" rtlCol="0" anchor="ctr"/>
          <a:lstStyle/>
          <a:p>
            <a:pPr indent="0" marL="0">
              <a:spcAft>
                <a:spcPts val="400"/>
              </a:spcAft>
              <a:buNone/>
            </a:pPr>
            <a:r>
              <a:rPr lang="en-US" sz="800" b="1" spc="100" kern="0" dirty="0">
                <a:solidFill>
                  <a:srgbClr val="CDE6A7"/>
                </a:solidFill>
                <a:latin typeface="Arial" pitchFamily="34" charset="0"/>
                <a:ea typeface="Arial" pitchFamily="34" charset="-122"/>
                <a:cs typeface="Arial" pitchFamily="34" charset="-120"/>
              </a:rPr>
              <a:t>STEP 1</a:t>
            </a:r>
            <a:endParaRPr lang="en-US" sz="800" dirty="0"/>
          </a:p>
          <a:p>
            <a:pPr indent="0" marL="0">
              <a:spcAft>
                <a:spcPts val="100"/>
              </a:spcAft>
              <a:buNone/>
            </a:pPr>
            <a:r>
              <a:rPr lang="en-US" sz="1200" b="1" dirty="0">
                <a:solidFill>
                  <a:srgbClr val="FFFFFF"/>
                </a:solidFill>
                <a:latin typeface="Arial" pitchFamily="34" charset="0"/>
                <a:ea typeface="Arial" pitchFamily="34" charset="-122"/>
                <a:cs typeface="Arial" pitchFamily="34" charset="-120"/>
              </a:rPr>
              <a:t>Discussion with HaNoi Tax Office</a:t>
            </a:r>
            <a:endParaRPr lang="en-US" sz="800" dirty="0"/>
          </a:p>
          <a:p>
            <a:pPr indent="0" marL="0">
              <a:spcAft>
                <a:spcPts val="100"/>
              </a:spcAft>
              <a:buNone/>
            </a:pPr>
            <a:r>
              <a:rPr lang="en-US" sz="900" dirty="0">
                <a:solidFill>
                  <a:srgbClr val="E4F0D0"/>
                </a:solidFill>
                <a:latin typeface="Arial" pitchFamily="34" charset="0"/>
                <a:ea typeface="Arial" pitchFamily="34" charset="-122"/>
                <a:cs typeface="Arial" pitchFamily="34" charset="-120"/>
              </a:rPr>
              <a:t>Leadership level, informal</a:t>
            </a:r>
            <a:endParaRPr lang="en-US" sz="800" dirty="0"/>
          </a:p>
        </p:txBody>
      </p:sp>
      <p:sp>
        <p:nvSpPr>
          <p:cNvPr id="6" name="Shape 4"/>
          <p:cNvSpPr/>
          <p:nvPr/>
        </p:nvSpPr>
        <p:spPr>
          <a:xfrm>
            <a:off x="3429000" y="3264408"/>
            <a:ext cx="2331720" cy="886968"/>
          </a:xfrm>
          <a:prstGeom prst="rect">
            <a:avLst/>
          </a:prstGeom>
          <a:solidFill>
            <a:srgbClr val="046A38"/>
          </a:solidFill>
          <a:ln w="15875">
            <a:solidFill>
              <a:srgbClr val="046A38"/>
            </a:solidFill>
            <a:prstDash val="solid"/>
          </a:ln>
        </p:spPr>
      </p:sp>
      <p:sp>
        <p:nvSpPr>
          <p:cNvPr id="7" name="Text 5"/>
          <p:cNvSpPr txBox="1"/>
          <p:nvPr/>
        </p:nvSpPr>
        <p:spPr>
          <a:xfrm>
            <a:off x="3520440" y="3328416"/>
            <a:ext cx="2148840" cy="777240"/>
          </a:xfrm>
          <a:prstGeom prst="rect">
            <a:avLst/>
          </a:prstGeom>
          <a:noFill/>
          <a:ln/>
        </p:spPr>
        <p:txBody>
          <a:bodyPr wrap="square" lIns="0" tIns="0" rIns="0" bIns="0" rtlCol="0" anchor="ctr"/>
          <a:lstStyle/>
          <a:p>
            <a:pPr indent="0" marL="0">
              <a:spcAft>
                <a:spcPts val="400"/>
              </a:spcAft>
              <a:buNone/>
            </a:pPr>
            <a:r>
              <a:rPr lang="en-US" sz="800" b="1" spc="100" kern="0" dirty="0">
                <a:solidFill>
                  <a:srgbClr val="CDE6A7"/>
                </a:solidFill>
                <a:latin typeface="Arial" pitchFamily="34" charset="0"/>
                <a:ea typeface="Arial" pitchFamily="34" charset="-122"/>
                <a:cs typeface="Arial" pitchFamily="34" charset="-120"/>
              </a:rPr>
              <a:t>STEP 2</a:t>
            </a:r>
            <a:endParaRPr lang="en-US" sz="800" dirty="0"/>
          </a:p>
          <a:p>
            <a:pPr indent="0" marL="0">
              <a:spcAft>
                <a:spcPts val="100"/>
              </a:spcAft>
              <a:buNone/>
            </a:pPr>
            <a:r>
              <a:rPr lang="en-US" sz="1200" b="1" dirty="0">
                <a:solidFill>
                  <a:srgbClr val="FFFFFF"/>
                </a:solidFill>
                <a:latin typeface="Arial" pitchFamily="34" charset="0"/>
                <a:ea typeface="Arial" pitchFamily="34" charset="-122"/>
                <a:cs typeface="Arial" pitchFamily="34" charset="-120"/>
              </a:rPr>
              <a:t>Formal letter to HaNoi Tax Office</a:t>
            </a:r>
            <a:endParaRPr lang="en-US" sz="800" dirty="0"/>
          </a:p>
          <a:p>
            <a:pPr indent="0" marL="0">
              <a:spcAft>
                <a:spcPts val="100"/>
              </a:spcAft>
              <a:buNone/>
            </a:pPr>
            <a:r>
              <a:rPr lang="en-US" sz="900" dirty="0">
                <a:solidFill>
                  <a:srgbClr val="E4F0D0"/>
                </a:solidFill>
                <a:latin typeface="Arial" pitchFamily="34" charset="0"/>
                <a:ea typeface="Arial" pitchFamily="34" charset="-122"/>
                <a:cs typeface="Arial" pitchFamily="34" charset="-120"/>
              </a:rPr>
              <a:t>Copy DT; consider MoF, Japan Embassy, JCCI</a:t>
            </a:r>
            <a:endParaRPr lang="en-US" sz="800" dirty="0"/>
          </a:p>
        </p:txBody>
      </p:sp>
      <p:sp>
        <p:nvSpPr>
          <p:cNvPr id="8" name="Shape 6"/>
          <p:cNvSpPr/>
          <p:nvPr/>
        </p:nvSpPr>
        <p:spPr>
          <a:xfrm>
            <a:off x="6400800" y="3264408"/>
            <a:ext cx="2331720" cy="886968"/>
          </a:xfrm>
          <a:prstGeom prst="rect">
            <a:avLst/>
          </a:prstGeom>
          <a:solidFill>
            <a:srgbClr val="046A38"/>
          </a:solidFill>
          <a:ln w="15875">
            <a:solidFill>
              <a:srgbClr val="046A38"/>
            </a:solidFill>
            <a:prstDash val="solid"/>
          </a:ln>
        </p:spPr>
      </p:sp>
      <p:sp>
        <p:nvSpPr>
          <p:cNvPr id="9" name="Text 7"/>
          <p:cNvSpPr txBox="1"/>
          <p:nvPr/>
        </p:nvSpPr>
        <p:spPr>
          <a:xfrm>
            <a:off x="6492240" y="3328416"/>
            <a:ext cx="2148840" cy="777240"/>
          </a:xfrm>
          <a:prstGeom prst="rect">
            <a:avLst/>
          </a:prstGeom>
          <a:noFill/>
          <a:ln/>
        </p:spPr>
        <p:txBody>
          <a:bodyPr wrap="square" lIns="0" tIns="0" rIns="0" bIns="0" rtlCol="0" anchor="ctr"/>
          <a:lstStyle/>
          <a:p>
            <a:pPr indent="0" marL="0">
              <a:spcAft>
                <a:spcPts val="400"/>
              </a:spcAft>
              <a:buNone/>
            </a:pPr>
            <a:r>
              <a:rPr lang="en-US" sz="800" b="1" spc="100" kern="0" dirty="0">
                <a:solidFill>
                  <a:srgbClr val="CDE6A7"/>
                </a:solidFill>
                <a:latin typeface="Arial" pitchFamily="34" charset="0"/>
                <a:ea typeface="Arial" pitchFamily="34" charset="-122"/>
                <a:cs typeface="Arial" pitchFamily="34" charset="-120"/>
              </a:rPr>
              <a:t>STEP 3</a:t>
            </a:r>
            <a:endParaRPr lang="en-US" sz="800" dirty="0"/>
          </a:p>
          <a:p>
            <a:pPr indent="0" marL="0">
              <a:spcAft>
                <a:spcPts val="100"/>
              </a:spcAft>
              <a:buNone/>
            </a:pPr>
            <a:r>
              <a:rPr lang="en-US" sz="1200" b="1" dirty="0">
                <a:solidFill>
                  <a:srgbClr val="FFFFFF"/>
                </a:solidFill>
                <a:latin typeface="Arial" pitchFamily="34" charset="0"/>
                <a:ea typeface="Arial" pitchFamily="34" charset="-122"/>
                <a:cs typeface="Arial" pitchFamily="34" charset="-120"/>
              </a:rPr>
              <a:t>Petition to the Ministry of Finance</a:t>
            </a:r>
            <a:endParaRPr lang="en-US" sz="800" dirty="0"/>
          </a:p>
          <a:p>
            <a:pPr indent="0" marL="0">
              <a:spcAft>
                <a:spcPts val="100"/>
              </a:spcAft>
              <a:buNone/>
            </a:pPr>
            <a:r>
              <a:rPr lang="en-US" sz="900" dirty="0">
                <a:solidFill>
                  <a:srgbClr val="E4F0D0"/>
                </a:solidFill>
                <a:latin typeface="Arial" pitchFamily="34" charset="0"/>
                <a:ea typeface="Arial" pitchFamily="34" charset="-122"/>
                <a:cs typeface="Arial" pitchFamily="34" charset="-120"/>
              </a:rPr>
              <a:t>Only after HaNoi Tax Office has acted in writing</a:t>
            </a:r>
            <a:endParaRPr lang="en-US" sz="800" dirty="0"/>
          </a:p>
        </p:txBody>
      </p:sp>
      <p:sp>
        <p:nvSpPr>
          <p:cNvPr id="10" name="Shape 8"/>
          <p:cNvSpPr/>
          <p:nvPr/>
        </p:nvSpPr>
        <p:spPr>
          <a:xfrm>
            <a:off x="9372600" y="3264408"/>
            <a:ext cx="2331720" cy="886968"/>
          </a:xfrm>
          <a:prstGeom prst="rect">
            <a:avLst/>
          </a:prstGeom>
          <a:solidFill>
            <a:srgbClr val="000000"/>
          </a:solidFill>
          <a:ln w="15875">
            <a:solidFill>
              <a:srgbClr val="000000"/>
            </a:solidFill>
            <a:prstDash val="solid"/>
          </a:ln>
        </p:spPr>
      </p:sp>
      <p:sp>
        <p:nvSpPr>
          <p:cNvPr id="11" name="Text 9"/>
          <p:cNvSpPr txBox="1"/>
          <p:nvPr/>
        </p:nvSpPr>
        <p:spPr>
          <a:xfrm>
            <a:off x="9464040" y="3328416"/>
            <a:ext cx="2148840" cy="777240"/>
          </a:xfrm>
          <a:prstGeom prst="rect">
            <a:avLst/>
          </a:prstGeom>
          <a:noFill/>
          <a:ln/>
        </p:spPr>
        <p:txBody>
          <a:bodyPr wrap="square" lIns="0" tIns="0" rIns="0" bIns="0" rtlCol="0" anchor="ctr"/>
          <a:lstStyle/>
          <a:p>
            <a:pPr indent="0" marL="0">
              <a:spcAft>
                <a:spcPts val="400"/>
              </a:spcAft>
              <a:buNone/>
            </a:pPr>
            <a:r>
              <a:rPr lang="en-US" sz="800" b="1" spc="100" kern="0" dirty="0">
                <a:solidFill>
                  <a:srgbClr val="86BC25"/>
                </a:solidFill>
                <a:latin typeface="Arial" pitchFamily="34" charset="0"/>
                <a:ea typeface="Arial" pitchFamily="34" charset="-122"/>
                <a:cs typeface="Arial" pitchFamily="34" charset="-120"/>
              </a:rPr>
              <a:t>RESULT</a:t>
            </a:r>
            <a:endParaRPr lang="en-US" sz="800" dirty="0"/>
          </a:p>
          <a:p>
            <a:pPr indent="0" marL="0">
              <a:spcAft>
                <a:spcPts val="100"/>
              </a:spcAft>
              <a:buNone/>
            </a:pPr>
            <a:r>
              <a:rPr lang="en-US" sz="1200" b="1" dirty="0">
                <a:solidFill>
                  <a:srgbClr val="FFFFFF"/>
                </a:solidFill>
                <a:latin typeface="Arial" pitchFamily="34" charset="0"/>
                <a:ea typeface="Arial" pitchFamily="34" charset="-122"/>
                <a:cs typeface="Arial" pitchFamily="34" charset="-120"/>
              </a:rPr>
              <a:t>Final unified position</a:t>
            </a:r>
            <a:endParaRPr lang="en-US" sz="800" dirty="0"/>
          </a:p>
          <a:p>
            <a:pPr indent="0" marL="0">
              <a:spcAft>
                <a:spcPts val="100"/>
              </a:spcAft>
              <a:buNone/>
            </a:pPr>
            <a:r>
              <a:rPr lang="en-US" sz="900" dirty="0">
                <a:solidFill>
                  <a:srgbClr val="D0D0CE"/>
                </a:solidFill>
                <a:latin typeface="Arial" pitchFamily="34" charset="0"/>
                <a:ea typeface="Arial" pitchFamily="34" charset="-122"/>
                <a:cs typeface="Arial" pitchFamily="34" charset="-120"/>
              </a:rPr>
              <a:t>MoF, DT and HaNoi Tax Office</a:t>
            </a:r>
            <a:endParaRPr lang="en-US" sz="800" dirty="0"/>
          </a:p>
        </p:txBody>
      </p:sp>
      <p:sp>
        <p:nvSpPr>
          <p:cNvPr id="12" name="Shape 10"/>
          <p:cNvSpPr/>
          <p:nvPr/>
        </p:nvSpPr>
        <p:spPr>
          <a:xfrm>
            <a:off x="2788920" y="3707892"/>
            <a:ext cx="640080" cy="91"/>
          </a:xfrm>
          <a:prstGeom prst="line">
            <a:avLst/>
          </a:prstGeom>
          <a:noFill/>
          <a:ln w="19050">
            <a:solidFill>
              <a:srgbClr val="97999B"/>
            </a:solidFill>
            <a:prstDash val="solid"/>
            <a:tailEnd type="triangle"/>
          </a:ln>
        </p:spPr>
      </p:sp>
      <p:sp>
        <p:nvSpPr>
          <p:cNvPr id="13" name="Text 11"/>
          <p:cNvSpPr txBox="1"/>
          <p:nvPr/>
        </p:nvSpPr>
        <p:spPr>
          <a:xfrm>
            <a:off x="2788920" y="3433572"/>
            <a:ext cx="640080" cy="201168"/>
          </a:xfrm>
          <a:prstGeom prst="rect">
            <a:avLst/>
          </a:prstGeom>
          <a:noFill/>
          <a:ln/>
        </p:spPr>
        <p:txBody>
          <a:bodyPr wrap="square" lIns="0" tIns="0" rIns="0" bIns="0" rtlCol="0" anchor="ctr"/>
          <a:lstStyle/>
          <a:p>
            <a:pPr algn="ctr" indent="0" marL="0">
              <a:buNone/>
            </a:pPr>
            <a:r>
              <a:rPr lang="en-US" sz="750" b="1" dirty="0">
                <a:solidFill>
                  <a:srgbClr val="DA291C"/>
                </a:solidFill>
                <a:latin typeface="Arial" pitchFamily="34" charset="0"/>
                <a:ea typeface="Arial" pitchFamily="34" charset="-122"/>
                <a:cs typeface="Arial" pitchFamily="34" charset="-120"/>
              </a:rPr>
              <a:t>NEGATIVE</a:t>
            </a:r>
            <a:endParaRPr lang="en-US" sz="750" dirty="0"/>
          </a:p>
        </p:txBody>
      </p:sp>
      <p:sp>
        <p:nvSpPr>
          <p:cNvPr id="14" name="Shape 12"/>
          <p:cNvSpPr/>
          <p:nvPr/>
        </p:nvSpPr>
        <p:spPr>
          <a:xfrm>
            <a:off x="5760720" y="3707892"/>
            <a:ext cx="640080" cy="91"/>
          </a:xfrm>
          <a:prstGeom prst="line">
            <a:avLst/>
          </a:prstGeom>
          <a:noFill/>
          <a:ln w="19050">
            <a:solidFill>
              <a:srgbClr val="97999B"/>
            </a:solidFill>
            <a:prstDash val="solid"/>
            <a:tailEnd type="triangle"/>
          </a:ln>
        </p:spPr>
      </p:sp>
      <p:sp>
        <p:nvSpPr>
          <p:cNvPr id="15" name="Text 13"/>
          <p:cNvSpPr txBox="1"/>
          <p:nvPr/>
        </p:nvSpPr>
        <p:spPr>
          <a:xfrm>
            <a:off x="5760720" y="3433572"/>
            <a:ext cx="640080" cy="201168"/>
          </a:xfrm>
          <a:prstGeom prst="rect">
            <a:avLst/>
          </a:prstGeom>
          <a:noFill/>
          <a:ln/>
        </p:spPr>
        <p:txBody>
          <a:bodyPr wrap="square" lIns="0" tIns="0" rIns="0" bIns="0" rtlCol="0" anchor="ctr"/>
          <a:lstStyle/>
          <a:p>
            <a:pPr algn="ctr" indent="0" marL="0">
              <a:buNone/>
            </a:pPr>
            <a:r>
              <a:rPr lang="en-US" sz="750" b="1" dirty="0">
                <a:solidFill>
                  <a:srgbClr val="DA291C"/>
                </a:solidFill>
                <a:latin typeface="Arial" pitchFamily="34" charset="0"/>
                <a:ea typeface="Arial" pitchFamily="34" charset="-122"/>
                <a:cs typeface="Arial" pitchFamily="34" charset="-120"/>
              </a:rPr>
              <a:t>NEGATIVE</a:t>
            </a:r>
            <a:endParaRPr lang="en-US" sz="750" dirty="0"/>
          </a:p>
        </p:txBody>
      </p:sp>
      <p:sp>
        <p:nvSpPr>
          <p:cNvPr id="16" name="Shape 14"/>
          <p:cNvSpPr/>
          <p:nvPr/>
        </p:nvSpPr>
        <p:spPr>
          <a:xfrm>
            <a:off x="749808" y="1298448"/>
            <a:ext cx="2039112" cy="886968"/>
          </a:xfrm>
          <a:prstGeom prst="rect">
            <a:avLst/>
          </a:prstGeom>
          <a:solidFill>
            <a:srgbClr val="F1F6E4"/>
          </a:solidFill>
          <a:ln w="15875">
            <a:solidFill>
              <a:srgbClr val="86BC25"/>
            </a:solidFill>
            <a:prstDash val="solid"/>
          </a:ln>
        </p:spPr>
      </p:sp>
      <p:sp>
        <p:nvSpPr>
          <p:cNvPr id="17" name="Text 15"/>
          <p:cNvSpPr txBox="1"/>
          <p:nvPr/>
        </p:nvSpPr>
        <p:spPr>
          <a:xfrm>
            <a:off x="841248" y="1362456"/>
            <a:ext cx="1856232" cy="777240"/>
          </a:xfrm>
          <a:prstGeom prst="rect">
            <a:avLst/>
          </a:prstGeom>
          <a:noFill/>
          <a:ln/>
        </p:spPr>
        <p:txBody>
          <a:bodyPr wrap="square" lIns="0" tIns="0" rIns="0" bIns="0" rtlCol="0" anchor="t"/>
          <a:lstStyle/>
          <a:p>
            <a:pPr indent="0" marL="0">
              <a:spcAft>
                <a:spcPts val="400"/>
              </a:spcAft>
              <a:buNone/>
            </a:pPr>
            <a:r>
              <a:rPr lang="en-US" sz="800" b="1" spc="100" kern="0" dirty="0">
                <a:solidFill>
                  <a:srgbClr val="3C8F2A"/>
                </a:solidFill>
                <a:latin typeface="Arial" pitchFamily="34" charset="0"/>
                <a:ea typeface="Arial" pitchFamily="34" charset="-122"/>
                <a:cs typeface="Arial" pitchFamily="34" charset="-120"/>
              </a:rPr>
              <a:t>SCENARIO 1</a:t>
            </a:r>
            <a:endParaRPr lang="en-US" sz="800" dirty="0"/>
          </a:p>
          <a:p>
            <a:pPr indent="0" marL="0">
              <a:spcAft>
                <a:spcPts val="100"/>
              </a:spcAft>
              <a:buNone/>
            </a:pPr>
            <a:r>
              <a:rPr lang="en-US" sz="1050" b="1" dirty="0">
                <a:solidFill>
                  <a:srgbClr val="000000"/>
                </a:solidFill>
                <a:latin typeface="Arial" pitchFamily="34" charset="0"/>
                <a:ea typeface="Arial" pitchFamily="34" charset="-122"/>
                <a:cs typeface="Arial" pitchFamily="34" charset="-120"/>
              </a:rPr>
              <a:t>Refund approved</a:t>
            </a:r>
            <a:endParaRPr lang="en-US" sz="800" dirty="0"/>
          </a:p>
          <a:p>
            <a:pPr indent="0" marL="0">
              <a:spcAft>
                <a:spcPts val="100"/>
              </a:spcAft>
              <a:buNone/>
            </a:pPr>
            <a:r>
              <a:rPr lang="en-US" sz="900" dirty="0">
                <a:solidFill>
                  <a:srgbClr val="63666A"/>
                </a:solidFill>
                <a:latin typeface="Arial" pitchFamily="34" charset="0"/>
                <a:ea typeface="Arial" pitchFamily="34" charset="-122"/>
                <a:cs typeface="Arial" pitchFamily="34" charset="-120"/>
              </a:rPr>
              <a:t>Guidance clear to HaNoi Tax Office; case closed</a:t>
            </a:r>
            <a:endParaRPr lang="en-US" sz="800" dirty="0"/>
          </a:p>
        </p:txBody>
      </p:sp>
      <p:sp>
        <p:nvSpPr>
          <p:cNvPr id="18" name="Text 16"/>
          <p:cNvSpPr txBox="1"/>
          <p:nvPr/>
        </p:nvSpPr>
        <p:spPr>
          <a:xfrm>
            <a:off x="1874520" y="1353312"/>
            <a:ext cx="841248" cy="155448"/>
          </a:xfrm>
          <a:prstGeom prst="rect">
            <a:avLst/>
          </a:prstGeom>
          <a:solidFill>
            <a:srgbClr val="3C8F2A"/>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FAVOURABLE</a:t>
            </a:r>
            <a:endParaRPr lang="en-US" sz="650" dirty="0"/>
          </a:p>
        </p:txBody>
      </p:sp>
      <p:sp>
        <p:nvSpPr>
          <p:cNvPr id="19" name="Shape 17"/>
          <p:cNvSpPr/>
          <p:nvPr/>
        </p:nvSpPr>
        <p:spPr>
          <a:xfrm>
            <a:off x="749808" y="2258568"/>
            <a:ext cx="2039112" cy="886968"/>
          </a:xfrm>
          <a:prstGeom prst="rect">
            <a:avLst/>
          </a:prstGeom>
          <a:solidFill>
            <a:srgbClr val="FFFFFF"/>
          </a:solidFill>
          <a:ln w="15875">
            <a:solidFill>
              <a:srgbClr val="BBBCBC"/>
            </a:solidFill>
            <a:prstDash val="solid"/>
          </a:ln>
        </p:spPr>
      </p:sp>
      <p:sp>
        <p:nvSpPr>
          <p:cNvPr id="20" name="Text 18"/>
          <p:cNvSpPr txBox="1"/>
          <p:nvPr/>
        </p:nvSpPr>
        <p:spPr>
          <a:xfrm>
            <a:off x="841248" y="2322576"/>
            <a:ext cx="1856232" cy="777240"/>
          </a:xfrm>
          <a:prstGeom prst="rect">
            <a:avLst/>
          </a:prstGeom>
          <a:noFill/>
          <a:ln/>
        </p:spPr>
        <p:txBody>
          <a:bodyPr wrap="square" lIns="0" tIns="0" rIns="0" bIns="0" rtlCol="0" anchor="t"/>
          <a:lstStyle/>
          <a:p>
            <a:pPr indent="0" marL="0">
              <a:spcAft>
                <a:spcPts val="400"/>
              </a:spcAft>
              <a:buNone/>
            </a:pPr>
            <a:r>
              <a:rPr lang="en-US" sz="800" b="1" spc="100" kern="0" dirty="0">
                <a:solidFill>
                  <a:srgbClr val="63666A"/>
                </a:solidFill>
                <a:latin typeface="Arial" pitchFamily="34" charset="0"/>
                <a:ea typeface="Arial" pitchFamily="34" charset="-122"/>
                <a:cs typeface="Arial" pitchFamily="34" charset="-120"/>
              </a:rPr>
              <a:t>SCENARIO 2.1</a:t>
            </a:r>
            <a:endParaRPr lang="en-US" sz="800" dirty="0"/>
          </a:p>
          <a:p>
            <a:pPr indent="0" marL="0">
              <a:spcAft>
                <a:spcPts val="100"/>
              </a:spcAft>
              <a:buNone/>
            </a:pPr>
            <a:r>
              <a:rPr lang="en-US" sz="1050" b="1" dirty="0">
                <a:solidFill>
                  <a:srgbClr val="000000"/>
                </a:solidFill>
                <a:latin typeface="Arial" pitchFamily="34" charset="0"/>
                <a:ea typeface="Arial" pitchFamily="34" charset="-122"/>
                <a:cs typeface="Arial" pitchFamily="34" charset="-120"/>
              </a:rPr>
              <a:t>Carry-forward; YMVN accepts</a:t>
            </a:r>
            <a:endParaRPr lang="en-US" sz="800" dirty="0"/>
          </a:p>
          <a:p>
            <a:pPr indent="0" marL="0">
              <a:spcAft>
                <a:spcPts val="100"/>
              </a:spcAft>
              <a:buNone/>
            </a:pPr>
            <a:r>
              <a:rPr lang="en-US" sz="900" dirty="0">
                <a:solidFill>
                  <a:srgbClr val="63666A"/>
                </a:solidFill>
                <a:latin typeface="Arial" pitchFamily="34" charset="0"/>
                <a:ea typeface="Arial" pitchFamily="34" charset="-122"/>
                <a:cs typeface="Arial" pitchFamily="34" charset="-120"/>
              </a:rPr>
              <a:t>Case closed (YMVN to decide in advance)</a:t>
            </a:r>
            <a:endParaRPr lang="en-US" sz="800" dirty="0"/>
          </a:p>
        </p:txBody>
      </p:sp>
      <p:sp>
        <p:nvSpPr>
          <p:cNvPr id="21" name="Text 19"/>
          <p:cNvSpPr txBox="1"/>
          <p:nvPr/>
        </p:nvSpPr>
        <p:spPr>
          <a:xfrm>
            <a:off x="1874520" y="2313432"/>
            <a:ext cx="841248" cy="155448"/>
          </a:xfrm>
          <a:prstGeom prst="rect">
            <a:avLst/>
          </a:prstGeom>
          <a:solidFill>
            <a:srgbClr val="ED8B00"/>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INTERMEDIATE</a:t>
            </a:r>
            <a:endParaRPr lang="en-US" sz="650" dirty="0"/>
          </a:p>
        </p:txBody>
      </p:sp>
      <p:sp>
        <p:nvSpPr>
          <p:cNvPr id="22" name="Shape 20"/>
          <p:cNvSpPr/>
          <p:nvPr/>
        </p:nvSpPr>
        <p:spPr>
          <a:xfrm>
            <a:off x="749808" y="4315968"/>
            <a:ext cx="2039112" cy="886968"/>
          </a:xfrm>
          <a:prstGeom prst="rect">
            <a:avLst/>
          </a:prstGeom>
          <a:solidFill>
            <a:srgbClr val="FFFFFF"/>
          </a:solidFill>
          <a:ln w="15875">
            <a:solidFill>
              <a:srgbClr val="BBBCBC"/>
            </a:solidFill>
            <a:prstDash val="solid"/>
          </a:ln>
        </p:spPr>
      </p:sp>
      <p:sp>
        <p:nvSpPr>
          <p:cNvPr id="23" name="Text 21"/>
          <p:cNvSpPr txBox="1"/>
          <p:nvPr/>
        </p:nvSpPr>
        <p:spPr>
          <a:xfrm>
            <a:off x="841248" y="4379976"/>
            <a:ext cx="1856232" cy="777240"/>
          </a:xfrm>
          <a:prstGeom prst="rect">
            <a:avLst/>
          </a:prstGeom>
          <a:noFill/>
          <a:ln/>
        </p:spPr>
        <p:txBody>
          <a:bodyPr wrap="square" lIns="0" tIns="0" rIns="0" bIns="0" rtlCol="0" anchor="t"/>
          <a:lstStyle/>
          <a:p>
            <a:pPr indent="0" marL="0">
              <a:spcAft>
                <a:spcPts val="400"/>
              </a:spcAft>
              <a:buNone/>
            </a:pPr>
            <a:r>
              <a:rPr lang="en-US" sz="800" b="1" spc="100" kern="0" dirty="0">
                <a:solidFill>
                  <a:srgbClr val="63666A"/>
                </a:solidFill>
                <a:latin typeface="Arial" pitchFamily="34" charset="0"/>
                <a:ea typeface="Arial" pitchFamily="34" charset="-122"/>
                <a:cs typeface="Arial" pitchFamily="34" charset="-120"/>
              </a:rPr>
              <a:t>SCENARIO 3</a:t>
            </a:r>
            <a:endParaRPr lang="en-US" sz="800" dirty="0"/>
          </a:p>
          <a:p>
            <a:pPr indent="0" marL="0">
              <a:spcAft>
                <a:spcPts val="100"/>
              </a:spcAft>
              <a:buNone/>
            </a:pPr>
            <a:r>
              <a:rPr lang="en-US" sz="1050" b="1" dirty="0">
                <a:solidFill>
                  <a:srgbClr val="000000"/>
                </a:solidFill>
                <a:latin typeface="Arial" pitchFamily="34" charset="0"/>
                <a:ea typeface="Arial" pitchFamily="34" charset="-122"/>
                <a:cs typeface="Arial" pitchFamily="34" charset="-120"/>
              </a:rPr>
              <a:t>Refund rejected</a:t>
            </a:r>
            <a:endParaRPr lang="en-US" sz="800" dirty="0"/>
          </a:p>
          <a:p>
            <a:pPr indent="0" marL="0">
              <a:spcAft>
                <a:spcPts val="100"/>
              </a:spcAft>
              <a:buNone/>
            </a:pPr>
            <a:r>
              <a:rPr lang="en-US" sz="900" dirty="0">
                <a:solidFill>
                  <a:srgbClr val="63666A"/>
                </a:solidFill>
                <a:latin typeface="Arial" pitchFamily="34" charset="0"/>
                <a:ea typeface="Arial" pitchFamily="34" charset="-122"/>
                <a:cs typeface="Arial" pitchFamily="34" charset="-120"/>
              </a:rPr>
              <a:t>No refund and no carry-forward</a:t>
            </a:r>
            <a:endParaRPr lang="en-US" sz="800" dirty="0"/>
          </a:p>
        </p:txBody>
      </p:sp>
      <p:sp>
        <p:nvSpPr>
          <p:cNvPr id="24" name="Text 22"/>
          <p:cNvSpPr txBox="1"/>
          <p:nvPr/>
        </p:nvSpPr>
        <p:spPr>
          <a:xfrm>
            <a:off x="1874520" y="4370832"/>
            <a:ext cx="841248" cy="155448"/>
          </a:xfrm>
          <a:prstGeom prst="rect">
            <a:avLst/>
          </a:prstGeom>
          <a:solidFill>
            <a:srgbClr val="DA291C"/>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NEGATIVE</a:t>
            </a:r>
            <a:endParaRPr lang="en-US" sz="650" dirty="0"/>
          </a:p>
        </p:txBody>
      </p:sp>
      <p:sp>
        <p:nvSpPr>
          <p:cNvPr id="25" name="Shape 23"/>
          <p:cNvSpPr/>
          <p:nvPr/>
        </p:nvSpPr>
        <p:spPr>
          <a:xfrm>
            <a:off x="749808" y="5276088"/>
            <a:ext cx="2039112" cy="886968"/>
          </a:xfrm>
          <a:prstGeom prst="rect">
            <a:avLst/>
          </a:prstGeom>
          <a:solidFill>
            <a:srgbClr val="FFFFFF"/>
          </a:solidFill>
          <a:ln w="15875">
            <a:solidFill>
              <a:srgbClr val="BBBCBC"/>
            </a:solidFill>
            <a:prstDash val="solid"/>
          </a:ln>
        </p:spPr>
      </p:sp>
      <p:sp>
        <p:nvSpPr>
          <p:cNvPr id="26" name="Text 24"/>
          <p:cNvSpPr txBox="1"/>
          <p:nvPr/>
        </p:nvSpPr>
        <p:spPr>
          <a:xfrm>
            <a:off x="841248" y="5340096"/>
            <a:ext cx="1856232" cy="777240"/>
          </a:xfrm>
          <a:prstGeom prst="rect">
            <a:avLst/>
          </a:prstGeom>
          <a:noFill/>
          <a:ln/>
        </p:spPr>
        <p:txBody>
          <a:bodyPr wrap="square" lIns="0" tIns="0" rIns="0" bIns="0" rtlCol="0" anchor="t"/>
          <a:lstStyle/>
          <a:p>
            <a:pPr indent="0" marL="0">
              <a:spcAft>
                <a:spcPts val="400"/>
              </a:spcAft>
              <a:buNone/>
            </a:pPr>
            <a:r>
              <a:rPr lang="en-US" sz="800" b="1" spc="100" kern="0" dirty="0">
                <a:solidFill>
                  <a:srgbClr val="63666A"/>
                </a:solidFill>
                <a:latin typeface="Arial" pitchFamily="34" charset="0"/>
                <a:ea typeface="Arial" pitchFamily="34" charset="-122"/>
                <a:cs typeface="Arial" pitchFamily="34" charset="-120"/>
              </a:rPr>
              <a:t>SCENARIO 2.2</a:t>
            </a:r>
            <a:endParaRPr lang="en-US" sz="800" dirty="0"/>
          </a:p>
          <a:p>
            <a:pPr indent="0" marL="0">
              <a:spcAft>
                <a:spcPts val="100"/>
              </a:spcAft>
              <a:buNone/>
            </a:pPr>
            <a:r>
              <a:rPr lang="en-US" sz="1050" b="1" dirty="0">
                <a:solidFill>
                  <a:srgbClr val="000000"/>
                </a:solidFill>
                <a:latin typeface="Arial" pitchFamily="34" charset="0"/>
                <a:ea typeface="Arial" pitchFamily="34" charset="-122"/>
                <a:cs typeface="Arial" pitchFamily="34" charset="-120"/>
              </a:rPr>
              <a:t>Carry-forward only; YMVN still requests a refund</a:t>
            </a:r>
            <a:endParaRPr lang="en-US" sz="800" dirty="0"/>
          </a:p>
          <a:p>
            <a:pPr indent="0" marL="0">
              <a:spcAft>
                <a:spcPts val="100"/>
              </a:spcAft>
              <a:buNone/>
            </a:pPr>
            <a:r>
              <a:rPr lang="en-US" sz="900" dirty="0">
                <a:solidFill>
                  <a:srgbClr val="63666A"/>
                </a:solidFill>
                <a:latin typeface="Arial" pitchFamily="34" charset="0"/>
                <a:ea typeface="Arial" pitchFamily="34" charset="-122"/>
                <a:cs typeface="Arial" pitchFamily="34" charset="-120"/>
              </a:rPr>
              <a:t>Treated as Scenario 3</a:t>
            </a:r>
            <a:endParaRPr lang="en-US" sz="800" dirty="0"/>
          </a:p>
        </p:txBody>
      </p:sp>
      <p:sp>
        <p:nvSpPr>
          <p:cNvPr id="27" name="Text 25"/>
          <p:cNvSpPr txBox="1"/>
          <p:nvPr/>
        </p:nvSpPr>
        <p:spPr>
          <a:xfrm>
            <a:off x="1874520" y="5330952"/>
            <a:ext cx="841248" cy="155448"/>
          </a:xfrm>
          <a:prstGeom prst="rect">
            <a:avLst/>
          </a:prstGeom>
          <a:solidFill>
            <a:srgbClr val="DA291C"/>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NEGATIVE</a:t>
            </a:r>
            <a:endParaRPr lang="en-US" sz="650" dirty="0"/>
          </a:p>
        </p:txBody>
      </p:sp>
      <p:sp>
        <p:nvSpPr>
          <p:cNvPr id="28" name="Shape 26"/>
          <p:cNvSpPr/>
          <p:nvPr/>
        </p:nvSpPr>
        <p:spPr>
          <a:xfrm flipV="1">
            <a:off x="603504" y="1741932"/>
            <a:ext cx="91" cy="1522476"/>
          </a:xfrm>
          <a:prstGeom prst="line">
            <a:avLst/>
          </a:prstGeom>
          <a:noFill/>
          <a:ln w="19050">
            <a:solidFill>
              <a:srgbClr val="97999B"/>
            </a:solidFill>
            <a:prstDash val="solid"/>
          </a:ln>
        </p:spPr>
      </p:sp>
      <p:sp>
        <p:nvSpPr>
          <p:cNvPr id="29" name="Shape 27"/>
          <p:cNvSpPr/>
          <p:nvPr/>
        </p:nvSpPr>
        <p:spPr>
          <a:xfrm>
            <a:off x="603504" y="1741932"/>
            <a:ext cx="146304" cy="91"/>
          </a:xfrm>
          <a:prstGeom prst="line">
            <a:avLst/>
          </a:prstGeom>
          <a:noFill/>
          <a:ln w="19050">
            <a:solidFill>
              <a:srgbClr val="97999B"/>
            </a:solidFill>
            <a:prstDash val="solid"/>
            <a:tailEnd type="triangle"/>
          </a:ln>
        </p:spPr>
      </p:sp>
      <p:sp>
        <p:nvSpPr>
          <p:cNvPr id="30" name="Shape 28"/>
          <p:cNvSpPr/>
          <p:nvPr/>
        </p:nvSpPr>
        <p:spPr>
          <a:xfrm>
            <a:off x="603504" y="2702052"/>
            <a:ext cx="146304" cy="91"/>
          </a:xfrm>
          <a:prstGeom prst="line">
            <a:avLst/>
          </a:prstGeom>
          <a:noFill/>
          <a:ln w="19050">
            <a:solidFill>
              <a:srgbClr val="97999B"/>
            </a:solidFill>
            <a:prstDash val="solid"/>
            <a:tailEnd type="triangle"/>
          </a:ln>
        </p:spPr>
      </p:sp>
      <p:sp>
        <p:nvSpPr>
          <p:cNvPr id="31" name="Shape 29"/>
          <p:cNvSpPr/>
          <p:nvPr/>
        </p:nvSpPr>
        <p:spPr>
          <a:xfrm>
            <a:off x="603504" y="4151376"/>
            <a:ext cx="91" cy="1568196"/>
          </a:xfrm>
          <a:prstGeom prst="line">
            <a:avLst/>
          </a:prstGeom>
          <a:noFill/>
          <a:ln w="19050">
            <a:solidFill>
              <a:srgbClr val="97999B"/>
            </a:solidFill>
            <a:prstDash val="solid"/>
          </a:ln>
        </p:spPr>
      </p:sp>
      <p:sp>
        <p:nvSpPr>
          <p:cNvPr id="32" name="Shape 30"/>
          <p:cNvSpPr/>
          <p:nvPr/>
        </p:nvSpPr>
        <p:spPr>
          <a:xfrm>
            <a:off x="603504" y="4759452"/>
            <a:ext cx="146304" cy="91"/>
          </a:xfrm>
          <a:prstGeom prst="line">
            <a:avLst/>
          </a:prstGeom>
          <a:noFill/>
          <a:ln w="19050">
            <a:solidFill>
              <a:srgbClr val="97999B"/>
            </a:solidFill>
            <a:prstDash val="solid"/>
            <a:tailEnd type="triangle"/>
          </a:ln>
        </p:spPr>
      </p:sp>
      <p:sp>
        <p:nvSpPr>
          <p:cNvPr id="33" name="Shape 31"/>
          <p:cNvSpPr/>
          <p:nvPr/>
        </p:nvSpPr>
        <p:spPr>
          <a:xfrm>
            <a:off x="603504" y="5719572"/>
            <a:ext cx="146304" cy="91"/>
          </a:xfrm>
          <a:prstGeom prst="line">
            <a:avLst/>
          </a:prstGeom>
          <a:noFill/>
          <a:ln w="19050">
            <a:solidFill>
              <a:srgbClr val="97999B"/>
            </a:solidFill>
            <a:prstDash val="solid"/>
            <a:tailEnd type="triangle"/>
          </a:ln>
        </p:spPr>
      </p:sp>
      <p:sp>
        <p:nvSpPr>
          <p:cNvPr id="34" name="Shape 32"/>
          <p:cNvSpPr/>
          <p:nvPr/>
        </p:nvSpPr>
        <p:spPr>
          <a:xfrm>
            <a:off x="3721608" y="1298448"/>
            <a:ext cx="2039112" cy="886968"/>
          </a:xfrm>
          <a:prstGeom prst="rect">
            <a:avLst/>
          </a:prstGeom>
          <a:solidFill>
            <a:srgbClr val="F1F6E4"/>
          </a:solidFill>
          <a:ln w="15875">
            <a:solidFill>
              <a:srgbClr val="86BC25"/>
            </a:solidFill>
            <a:prstDash val="solid"/>
          </a:ln>
        </p:spPr>
      </p:sp>
      <p:sp>
        <p:nvSpPr>
          <p:cNvPr id="35" name="Text 33"/>
          <p:cNvSpPr txBox="1"/>
          <p:nvPr/>
        </p:nvSpPr>
        <p:spPr>
          <a:xfrm>
            <a:off x="3813048" y="1362456"/>
            <a:ext cx="1856232" cy="777240"/>
          </a:xfrm>
          <a:prstGeom prst="rect">
            <a:avLst/>
          </a:prstGeom>
          <a:noFill/>
          <a:ln/>
        </p:spPr>
        <p:txBody>
          <a:bodyPr wrap="square" lIns="0" tIns="0" rIns="0" bIns="0" rtlCol="0" anchor="t"/>
          <a:lstStyle/>
          <a:p>
            <a:pPr indent="0" marL="0">
              <a:spcAft>
                <a:spcPts val="400"/>
              </a:spcAft>
              <a:buNone/>
            </a:pPr>
            <a:r>
              <a:rPr lang="en-US" sz="800" b="1" spc="100" kern="0" dirty="0">
                <a:solidFill>
                  <a:srgbClr val="3C8F2A"/>
                </a:solidFill>
                <a:latin typeface="Arial" pitchFamily="34" charset="0"/>
                <a:ea typeface="Arial" pitchFamily="34" charset="-122"/>
                <a:cs typeface="Arial" pitchFamily="34" charset="-120"/>
              </a:rPr>
              <a:t>RESPONSE A</a:t>
            </a:r>
            <a:endParaRPr lang="en-US" sz="800" dirty="0"/>
          </a:p>
          <a:p>
            <a:pPr indent="0" marL="0">
              <a:spcAft>
                <a:spcPts val="100"/>
              </a:spcAft>
              <a:buNone/>
            </a:pPr>
            <a:r>
              <a:rPr lang="en-US" sz="1050" b="1" dirty="0">
                <a:solidFill>
                  <a:srgbClr val="000000"/>
                </a:solidFill>
                <a:latin typeface="Arial" pitchFamily="34" charset="0"/>
                <a:ea typeface="Arial" pitchFamily="34" charset="-122"/>
                <a:cs typeface="Arial" pitchFamily="34" charset="-120"/>
              </a:rPr>
              <a:t>HaNoi Tax Office approves the refund</a:t>
            </a:r>
            <a:endParaRPr lang="en-US" sz="800" dirty="0"/>
          </a:p>
          <a:p>
            <a:pPr indent="0" marL="0">
              <a:spcAft>
                <a:spcPts val="100"/>
              </a:spcAft>
              <a:buNone/>
            </a:pPr>
            <a:r>
              <a:rPr lang="en-US" sz="900" dirty="0">
                <a:solidFill>
                  <a:srgbClr val="63666A"/>
                </a:solidFill>
                <a:latin typeface="Arial" pitchFamily="34" charset="0"/>
                <a:ea typeface="Arial" pitchFamily="34" charset="-122"/>
                <a:cs typeface="Arial" pitchFamily="34" charset="-120"/>
              </a:rPr>
              <a:t>Refund processed; case closed</a:t>
            </a:r>
            <a:endParaRPr lang="en-US" sz="800" dirty="0"/>
          </a:p>
        </p:txBody>
      </p:sp>
      <p:sp>
        <p:nvSpPr>
          <p:cNvPr id="36" name="Text 34"/>
          <p:cNvSpPr txBox="1"/>
          <p:nvPr/>
        </p:nvSpPr>
        <p:spPr>
          <a:xfrm>
            <a:off x="4846320" y="1353312"/>
            <a:ext cx="841248" cy="155448"/>
          </a:xfrm>
          <a:prstGeom prst="rect">
            <a:avLst/>
          </a:prstGeom>
          <a:solidFill>
            <a:srgbClr val="3C8F2A"/>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FAVOURABLE</a:t>
            </a:r>
            <a:endParaRPr lang="en-US" sz="650" dirty="0"/>
          </a:p>
        </p:txBody>
      </p:sp>
      <p:sp>
        <p:nvSpPr>
          <p:cNvPr id="37" name="Shape 35"/>
          <p:cNvSpPr/>
          <p:nvPr/>
        </p:nvSpPr>
        <p:spPr>
          <a:xfrm>
            <a:off x="3721608" y="2258568"/>
            <a:ext cx="2039112" cy="886968"/>
          </a:xfrm>
          <a:prstGeom prst="rect">
            <a:avLst/>
          </a:prstGeom>
          <a:solidFill>
            <a:srgbClr val="FFFFFF"/>
          </a:solidFill>
          <a:ln w="15875">
            <a:solidFill>
              <a:srgbClr val="BBBCBC"/>
            </a:solidFill>
            <a:prstDash val="solid"/>
          </a:ln>
        </p:spPr>
      </p:sp>
      <p:sp>
        <p:nvSpPr>
          <p:cNvPr id="38" name="Text 36"/>
          <p:cNvSpPr txBox="1"/>
          <p:nvPr/>
        </p:nvSpPr>
        <p:spPr>
          <a:xfrm>
            <a:off x="3813048" y="2322576"/>
            <a:ext cx="1856232" cy="777240"/>
          </a:xfrm>
          <a:prstGeom prst="rect">
            <a:avLst/>
          </a:prstGeom>
          <a:noFill/>
          <a:ln/>
        </p:spPr>
        <p:txBody>
          <a:bodyPr wrap="square" lIns="0" tIns="0" rIns="0" bIns="0" rtlCol="0" anchor="t"/>
          <a:lstStyle/>
          <a:p>
            <a:pPr indent="0" marL="0">
              <a:spcAft>
                <a:spcPts val="400"/>
              </a:spcAft>
              <a:buNone/>
            </a:pPr>
            <a:r>
              <a:rPr lang="en-US" sz="800" b="1" spc="100" kern="0" dirty="0">
                <a:solidFill>
                  <a:srgbClr val="63666A"/>
                </a:solidFill>
                <a:latin typeface="Arial" pitchFamily="34" charset="0"/>
                <a:ea typeface="Arial" pitchFamily="34" charset="-122"/>
                <a:cs typeface="Arial" pitchFamily="34" charset="-120"/>
              </a:rPr>
              <a:t>RESPONSE B</a:t>
            </a:r>
            <a:endParaRPr lang="en-US" sz="800" dirty="0"/>
          </a:p>
          <a:p>
            <a:pPr indent="0" marL="0">
              <a:spcAft>
                <a:spcPts val="100"/>
              </a:spcAft>
              <a:buNone/>
            </a:pPr>
            <a:r>
              <a:rPr lang="en-US" sz="1050" b="1" dirty="0">
                <a:solidFill>
                  <a:srgbClr val="000000"/>
                </a:solidFill>
                <a:latin typeface="Arial" pitchFamily="34" charset="0"/>
                <a:ea typeface="Arial" pitchFamily="34" charset="-122"/>
                <a:cs typeface="Arial" pitchFamily="34" charset="-120"/>
              </a:rPr>
              <a:t>Joint meeting (DT chairs)</a:t>
            </a:r>
            <a:endParaRPr lang="en-US" sz="800" dirty="0"/>
          </a:p>
          <a:p>
            <a:pPr indent="0" marL="0">
              <a:spcAft>
                <a:spcPts val="100"/>
              </a:spcAft>
              <a:buNone/>
            </a:pPr>
            <a:r>
              <a:rPr lang="en-US" sz="900" dirty="0">
                <a:solidFill>
                  <a:srgbClr val="63666A"/>
                </a:solidFill>
                <a:latin typeface="Arial" pitchFamily="34" charset="0"/>
                <a:ea typeface="Arial" pitchFamily="34" charset="-122"/>
                <a:cs typeface="Arial" pitchFamily="34" charset="-120"/>
              </a:rPr>
              <a:t>Agreement leads to a refund; if still negative, go to Step 3</a:t>
            </a:r>
            <a:endParaRPr lang="en-US" sz="800" dirty="0"/>
          </a:p>
        </p:txBody>
      </p:sp>
      <p:sp>
        <p:nvSpPr>
          <p:cNvPr id="39" name="Text 37"/>
          <p:cNvSpPr txBox="1"/>
          <p:nvPr/>
        </p:nvSpPr>
        <p:spPr>
          <a:xfrm>
            <a:off x="4846320" y="2313432"/>
            <a:ext cx="841248" cy="155448"/>
          </a:xfrm>
          <a:prstGeom prst="rect">
            <a:avLst/>
          </a:prstGeom>
          <a:solidFill>
            <a:srgbClr val="ED8B00"/>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INTERMEDIATE</a:t>
            </a:r>
            <a:endParaRPr lang="en-US" sz="650" dirty="0"/>
          </a:p>
        </p:txBody>
      </p:sp>
      <p:sp>
        <p:nvSpPr>
          <p:cNvPr id="40" name="Shape 38"/>
          <p:cNvSpPr/>
          <p:nvPr/>
        </p:nvSpPr>
        <p:spPr>
          <a:xfrm>
            <a:off x="3721608" y="4315968"/>
            <a:ext cx="2039112" cy="886968"/>
          </a:xfrm>
          <a:prstGeom prst="rect">
            <a:avLst/>
          </a:prstGeom>
          <a:solidFill>
            <a:srgbClr val="FFFFFF"/>
          </a:solidFill>
          <a:ln w="15875">
            <a:solidFill>
              <a:srgbClr val="BBBCBC"/>
            </a:solidFill>
            <a:prstDash val="solid"/>
          </a:ln>
        </p:spPr>
      </p:sp>
      <p:sp>
        <p:nvSpPr>
          <p:cNvPr id="41" name="Text 39"/>
          <p:cNvSpPr txBox="1"/>
          <p:nvPr/>
        </p:nvSpPr>
        <p:spPr>
          <a:xfrm>
            <a:off x="3813048" y="4379976"/>
            <a:ext cx="1856232" cy="777240"/>
          </a:xfrm>
          <a:prstGeom prst="rect">
            <a:avLst/>
          </a:prstGeom>
          <a:noFill/>
          <a:ln/>
        </p:spPr>
        <p:txBody>
          <a:bodyPr wrap="square" lIns="0" tIns="0" rIns="0" bIns="0" rtlCol="0" anchor="t"/>
          <a:lstStyle/>
          <a:p>
            <a:pPr indent="0" marL="0">
              <a:spcAft>
                <a:spcPts val="400"/>
              </a:spcAft>
              <a:buNone/>
            </a:pPr>
            <a:r>
              <a:rPr lang="en-US" sz="800" b="1" spc="100" kern="0" dirty="0">
                <a:solidFill>
                  <a:srgbClr val="63666A"/>
                </a:solidFill>
                <a:latin typeface="Arial" pitchFamily="34" charset="0"/>
                <a:ea typeface="Arial" pitchFamily="34" charset="-122"/>
                <a:cs typeface="Arial" pitchFamily="34" charset="-120"/>
              </a:rPr>
              <a:t>RESPONSE C</a:t>
            </a:r>
            <a:endParaRPr lang="en-US" sz="800" dirty="0"/>
          </a:p>
          <a:p>
            <a:pPr indent="0" marL="0">
              <a:spcAft>
                <a:spcPts val="100"/>
              </a:spcAft>
              <a:buNone/>
            </a:pPr>
            <a:r>
              <a:rPr lang="en-US" sz="1050" b="1" dirty="0">
                <a:solidFill>
                  <a:srgbClr val="000000"/>
                </a:solidFill>
                <a:latin typeface="Arial" pitchFamily="34" charset="0"/>
                <a:ea typeface="Arial" pitchFamily="34" charset="-122"/>
                <a:cs typeface="Arial" pitchFamily="34" charset="-120"/>
              </a:rPr>
              <a:t>Unilateral inspection minutes</a:t>
            </a:r>
            <a:endParaRPr lang="en-US" sz="800" dirty="0"/>
          </a:p>
          <a:p>
            <a:pPr indent="0" marL="0">
              <a:spcAft>
                <a:spcPts val="100"/>
              </a:spcAft>
              <a:buNone/>
            </a:pPr>
            <a:r>
              <a:rPr lang="en-US" sz="900" dirty="0">
                <a:solidFill>
                  <a:srgbClr val="63666A"/>
                </a:solidFill>
                <a:latin typeface="Arial" pitchFamily="34" charset="0"/>
                <a:ea typeface="Arial" pitchFamily="34" charset="-122"/>
                <a:cs typeface="Arial" pitchFamily="34" charset="-120"/>
              </a:rPr>
              <a:t>YMVN records disagreement; asks to hold pending MoF guidance</a:t>
            </a:r>
            <a:endParaRPr lang="en-US" sz="800" dirty="0"/>
          </a:p>
        </p:txBody>
      </p:sp>
      <p:sp>
        <p:nvSpPr>
          <p:cNvPr id="42" name="Text 40"/>
          <p:cNvSpPr txBox="1"/>
          <p:nvPr/>
        </p:nvSpPr>
        <p:spPr>
          <a:xfrm>
            <a:off x="4846320" y="4370832"/>
            <a:ext cx="841248" cy="155448"/>
          </a:xfrm>
          <a:prstGeom prst="rect">
            <a:avLst/>
          </a:prstGeom>
          <a:solidFill>
            <a:srgbClr val="DA291C"/>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NEGATIVE</a:t>
            </a:r>
            <a:endParaRPr lang="en-US" sz="650" dirty="0"/>
          </a:p>
        </p:txBody>
      </p:sp>
      <p:sp>
        <p:nvSpPr>
          <p:cNvPr id="43" name="Shape 41"/>
          <p:cNvSpPr/>
          <p:nvPr/>
        </p:nvSpPr>
        <p:spPr>
          <a:xfrm>
            <a:off x="3721608" y="5276088"/>
            <a:ext cx="2039112" cy="886968"/>
          </a:xfrm>
          <a:prstGeom prst="rect">
            <a:avLst/>
          </a:prstGeom>
          <a:solidFill>
            <a:srgbClr val="FFFFFF"/>
          </a:solidFill>
          <a:ln w="15875">
            <a:solidFill>
              <a:srgbClr val="BBBCBC"/>
            </a:solidFill>
            <a:prstDash val="solid"/>
          </a:ln>
        </p:spPr>
      </p:sp>
      <p:sp>
        <p:nvSpPr>
          <p:cNvPr id="44" name="Text 42"/>
          <p:cNvSpPr txBox="1"/>
          <p:nvPr/>
        </p:nvSpPr>
        <p:spPr>
          <a:xfrm>
            <a:off x="3813048" y="5340096"/>
            <a:ext cx="1856232" cy="777240"/>
          </a:xfrm>
          <a:prstGeom prst="rect">
            <a:avLst/>
          </a:prstGeom>
          <a:noFill/>
          <a:ln/>
        </p:spPr>
        <p:txBody>
          <a:bodyPr wrap="square" lIns="0" tIns="0" rIns="0" bIns="0" rtlCol="0" anchor="t"/>
          <a:lstStyle/>
          <a:p>
            <a:pPr indent="0" marL="0">
              <a:spcAft>
                <a:spcPts val="400"/>
              </a:spcAft>
              <a:buNone/>
            </a:pPr>
            <a:r>
              <a:rPr lang="en-US" sz="800" b="1" spc="100" kern="0" dirty="0">
                <a:solidFill>
                  <a:srgbClr val="63666A"/>
                </a:solidFill>
                <a:latin typeface="Arial" pitchFamily="34" charset="0"/>
                <a:ea typeface="Arial" pitchFamily="34" charset="-122"/>
                <a:cs typeface="Arial" pitchFamily="34" charset="-120"/>
              </a:rPr>
              <a:t>RESPONSE D</a:t>
            </a:r>
            <a:endParaRPr lang="en-US" sz="800" dirty="0"/>
          </a:p>
          <a:p>
            <a:pPr indent="0" marL="0">
              <a:spcAft>
                <a:spcPts val="100"/>
              </a:spcAft>
              <a:buNone/>
            </a:pPr>
            <a:r>
              <a:rPr lang="en-US" sz="1050" b="1" dirty="0">
                <a:solidFill>
                  <a:srgbClr val="000000"/>
                </a:solidFill>
                <a:latin typeface="Arial" pitchFamily="34" charset="0"/>
                <a:ea typeface="Arial" pitchFamily="34" charset="-122"/>
                <a:cs typeface="Arial" pitchFamily="34" charset="-120"/>
              </a:rPr>
              <a:t>Rejection maintained</a:t>
            </a:r>
            <a:endParaRPr lang="en-US" sz="800" dirty="0"/>
          </a:p>
          <a:p>
            <a:pPr indent="0" marL="0">
              <a:spcAft>
                <a:spcPts val="100"/>
              </a:spcAft>
              <a:buNone/>
            </a:pPr>
            <a:r>
              <a:rPr lang="en-US" sz="900" dirty="0">
                <a:solidFill>
                  <a:srgbClr val="63666A"/>
                </a:solidFill>
                <a:latin typeface="Arial" pitchFamily="34" charset="0"/>
                <a:ea typeface="Arial" pitchFamily="34" charset="-122"/>
                <a:cs typeface="Arial" pitchFamily="34" charset="-120"/>
              </a:rPr>
              <a:t>Written reply or no response; basis for escalation</a:t>
            </a:r>
            <a:endParaRPr lang="en-US" sz="800" dirty="0"/>
          </a:p>
        </p:txBody>
      </p:sp>
      <p:sp>
        <p:nvSpPr>
          <p:cNvPr id="45" name="Text 43"/>
          <p:cNvSpPr txBox="1"/>
          <p:nvPr/>
        </p:nvSpPr>
        <p:spPr>
          <a:xfrm>
            <a:off x="4846320" y="5330952"/>
            <a:ext cx="841248" cy="155448"/>
          </a:xfrm>
          <a:prstGeom prst="rect">
            <a:avLst/>
          </a:prstGeom>
          <a:solidFill>
            <a:srgbClr val="DA291C"/>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NEGATIVE</a:t>
            </a:r>
            <a:endParaRPr lang="en-US" sz="650" dirty="0"/>
          </a:p>
        </p:txBody>
      </p:sp>
      <p:sp>
        <p:nvSpPr>
          <p:cNvPr id="46" name="Shape 44"/>
          <p:cNvSpPr/>
          <p:nvPr/>
        </p:nvSpPr>
        <p:spPr>
          <a:xfrm flipV="1">
            <a:off x="3575304" y="1741932"/>
            <a:ext cx="91" cy="1522476"/>
          </a:xfrm>
          <a:prstGeom prst="line">
            <a:avLst/>
          </a:prstGeom>
          <a:noFill/>
          <a:ln w="19050">
            <a:solidFill>
              <a:srgbClr val="97999B"/>
            </a:solidFill>
            <a:prstDash val="solid"/>
          </a:ln>
        </p:spPr>
      </p:sp>
      <p:sp>
        <p:nvSpPr>
          <p:cNvPr id="47" name="Shape 45"/>
          <p:cNvSpPr/>
          <p:nvPr/>
        </p:nvSpPr>
        <p:spPr>
          <a:xfrm>
            <a:off x="3575304" y="1741932"/>
            <a:ext cx="146304" cy="91"/>
          </a:xfrm>
          <a:prstGeom prst="line">
            <a:avLst/>
          </a:prstGeom>
          <a:noFill/>
          <a:ln w="19050">
            <a:solidFill>
              <a:srgbClr val="97999B"/>
            </a:solidFill>
            <a:prstDash val="solid"/>
            <a:tailEnd type="triangle"/>
          </a:ln>
        </p:spPr>
      </p:sp>
      <p:sp>
        <p:nvSpPr>
          <p:cNvPr id="48" name="Shape 46"/>
          <p:cNvSpPr/>
          <p:nvPr/>
        </p:nvSpPr>
        <p:spPr>
          <a:xfrm>
            <a:off x="3575304" y="2702052"/>
            <a:ext cx="146304" cy="91"/>
          </a:xfrm>
          <a:prstGeom prst="line">
            <a:avLst/>
          </a:prstGeom>
          <a:noFill/>
          <a:ln w="19050">
            <a:solidFill>
              <a:srgbClr val="97999B"/>
            </a:solidFill>
            <a:prstDash val="solid"/>
            <a:tailEnd type="triangle"/>
          </a:ln>
        </p:spPr>
      </p:sp>
      <p:sp>
        <p:nvSpPr>
          <p:cNvPr id="49" name="Shape 47"/>
          <p:cNvSpPr/>
          <p:nvPr/>
        </p:nvSpPr>
        <p:spPr>
          <a:xfrm>
            <a:off x="3575304" y="4151376"/>
            <a:ext cx="91" cy="1568196"/>
          </a:xfrm>
          <a:prstGeom prst="line">
            <a:avLst/>
          </a:prstGeom>
          <a:noFill/>
          <a:ln w="19050">
            <a:solidFill>
              <a:srgbClr val="97999B"/>
            </a:solidFill>
            <a:prstDash val="solid"/>
          </a:ln>
        </p:spPr>
      </p:sp>
      <p:sp>
        <p:nvSpPr>
          <p:cNvPr id="50" name="Shape 48"/>
          <p:cNvSpPr/>
          <p:nvPr/>
        </p:nvSpPr>
        <p:spPr>
          <a:xfrm>
            <a:off x="3575304" y="4759452"/>
            <a:ext cx="146304" cy="91"/>
          </a:xfrm>
          <a:prstGeom prst="line">
            <a:avLst/>
          </a:prstGeom>
          <a:noFill/>
          <a:ln w="19050">
            <a:solidFill>
              <a:srgbClr val="97999B"/>
            </a:solidFill>
            <a:prstDash val="solid"/>
            <a:tailEnd type="triangle"/>
          </a:ln>
        </p:spPr>
      </p:sp>
      <p:sp>
        <p:nvSpPr>
          <p:cNvPr id="51" name="Shape 49"/>
          <p:cNvSpPr/>
          <p:nvPr/>
        </p:nvSpPr>
        <p:spPr>
          <a:xfrm>
            <a:off x="3575304" y="5719572"/>
            <a:ext cx="146304" cy="91"/>
          </a:xfrm>
          <a:prstGeom prst="line">
            <a:avLst/>
          </a:prstGeom>
          <a:noFill/>
          <a:ln w="19050">
            <a:solidFill>
              <a:srgbClr val="97999B"/>
            </a:solidFill>
            <a:prstDash val="solid"/>
            <a:tailEnd type="triangle"/>
          </a:ln>
        </p:spPr>
      </p:sp>
      <p:sp>
        <p:nvSpPr>
          <p:cNvPr id="52" name="Shape 50"/>
          <p:cNvSpPr/>
          <p:nvPr/>
        </p:nvSpPr>
        <p:spPr>
          <a:xfrm>
            <a:off x="6693408" y="1298448"/>
            <a:ext cx="2039112" cy="886968"/>
          </a:xfrm>
          <a:prstGeom prst="rect">
            <a:avLst/>
          </a:prstGeom>
          <a:solidFill>
            <a:srgbClr val="FFFFFF"/>
          </a:solidFill>
          <a:ln w="15875">
            <a:solidFill>
              <a:srgbClr val="BBBCBC"/>
            </a:solidFill>
            <a:prstDash val="solid"/>
          </a:ln>
        </p:spPr>
      </p:sp>
      <p:sp>
        <p:nvSpPr>
          <p:cNvPr id="53" name="Text 51"/>
          <p:cNvSpPr txBox="1"/>
          <p:nvPr/>
        </p:nvSpPr>
        <p:spPr>
          <a:xfrm>
            <a:off x="6784848" y="1362456"/>
            <a:ext cx="1856232" cy="777240"/>
          </a:xfrm>
          <a:prstGeom prst="rect">
            <a:avLst/>
          </a:prstGeom>
          <a:noFill/>
          <a:ln/>
        </p:spPr>
        <p:txBody>
          <a:bodyPr wrap="square" lIns="0" tIns="0" rIns="0" bIns="0" rtlCol="0" anchor="t"/>
          <a:lstStyle/>
          <a:p>
            <a:pPr indent="0" marL="0">
              <a:spcAft>
                <a:spcPts val="400"/>
              </a:spcAft>
              <a:buNone/>
            </a:pPr>
            <a:r>
              <a:rPr lang="en-US" sz="800" b="1" spc="100" kern="0" dirty="0">
                <a:solidFill>
                  <a:srgbClr val="63666A"/>
                </a:solidFill>
                <a:latin typeface="Arial" pitchFamily="34" charset="0"/>
                <a:ea typeface="Arial" pitchFamily="34" charset="-122"/>
                <a:cs typeface="Arial" pitchFamily="34" charset="-120"/>
              </a:rPr>
              <a:t>MOF RESPONSE</a:t>
            </a:r>
            <a:endParaRPr lang="en-US" sz="800" dirty="0"/>
          </a:p>
          <a:p>
            <a:pPr indent="0" marL="0">
              <a:spcAft>
                <a:spcPts val="100"/>
              </a:spcAft>
              <a:buNone/>
            </a:pPr>
            <a:r>
              <a:rPr lang="en-US" sz="1050" b="1" dirty="0">
                <a:solidFill>
                  <a:srgbClr val="000000"/>
                </a:solidFill>
                <a:latin typeface="Arial" pitchFamily="34" charset="0"/>
                <a:ea typeface="Arial" pitchFamily="34" charset="-122"/>
                <a:cs typeface="Arial" pitchFamily="34" charset="-120"/>
              </a:rPr>
              <a:t>Directs DT to convene an inter-agency meeting</a:t>
            </a:r>
            <a:endParaRPr lang="en-US" sz="800" dirty="0"/>
          </a:p>
        </p:txBody>
      </p:sp>
      <p:sp>
        <p:nvSpPr>
          <p:cNvPr id="54" name="Text 52"/>
          <p:cNvSpPr txBox="1"/>
          <p:nvPr/>
        </p:nvSpPr>
        <p:spPr>
          <a:xfrm>
            <a:off x="7818120" y="1353312"/>
            <a:ext cx="841248" cy="155448"/>
          </a:xfrm>
          <a:prstGeom prst="rect">
            <a:avLst/>
          </a:prstGeom>
          <a:solidFill>
            <a:srgbClr val="046A3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MOST LIKELY</a:t>
            </a:r>
            <a:endParaRPr lang="en-US" sz="650" dirty="0"/>
          </a:p>
        </p:txBody>
      </p:sp>
      <p:sp>
        <p:nvSpPr>
          <p:cNvPr id="55" name="Shape 53"/>
          <p:cNvSpPr/>
          <p:nvPr/>
        </p:nvSpPr>
        <p:spPr>
          <a:xfrm>
            <a:off x="6693408" y="2258568"/>
            <a:ext cx="2039112" cy="886968"/>
          </a:xfrm>
          <a:prstGeom prst="rect">
            <a:avLst/>
          </a:prstGeom>
          <a:solidFill>
            <a:srgbClr val="FFFFFF"/>
          </a:solidFill>
          <a:ln w="15875">
            <a:solidFill>
              <a:srgbClr val="BBBCBC"/>
            </a:solidFill>
            <a:prstDash val="solid"/>
          </a:ln>
        </p:spPr>
      </p:sp>
      <p:sp>
        <p:nvSpPr>
          <p:cNvPr id="56" name="Text 54"/>
          <p:cNvSpPr txBox="1"/>
          <p:nvPr/>
        </p:nvSpPr>
        <p:spPr>
          <a:xfrm>
            <a:off x="6784848" y="2322576"/>
            <a:ext cx="1856232" cy="777240"/>
          </a:xfrm>
          <a:prstGeom prst="rect">
            <a:avLst/>
          </a:prstGeom>
          <a:noFill/>
          <a:ln/>
        </p:spPr>
        <p:txBody>
          <a:bodyPr wrap="square" lIns="0" tIns="0" rIns="0" bIns="0" rtlCol="0" anchor="t"/>
          <a:lstStyle/>
          <a:p>
            <a:pPr indent="0" marL="0">
              <a:spcAft>
                <a:spcPts val="400"/>
              </a:spcAft>
              <a:buNone/>
            </a:pPr>
            <a:r>
              <a:rPr lang="en-US" sz="800" b="1" spc="100" kern="0" dirty="0">
                <a:solidFill>
                  <a:srgbClr val="63666A"/>
                </a:solidFill>
                <a:latin typeface="Arial" pitchFamily="34" charset="0"/>
                <a:ea typeface="Arial" pitchFamily="34" charset="-122"/>
                <a:cs typeface="Arial" pitchFamily="34" charset="-120"/>
              </a:rPr>
              <a:t>MOF RESPONSE</a:t>
            </a:r>
            <a:endParaRPr lang="en-US" sz="800" dirty="0"/>
          </a:p>
          <a:p>
            <a:pPr indent="0" marL="0">
              <a:spcAft>
                <a:spcPts val="100"/>
              </a:spcAft>
              <a:buNone/>
            </a:pPr>
            <a:r>
              <a:rPr lang="en-US" sz="1050" b="1" dirty="0">
                <a:solidFill>
                  <a:srgbClr val="000000"/>
                </a:solidFill>
                <a:latin typeface="Arial" pitchFamily="34" charset="0"/>
                <a:ea typeface="Arial" pitchFamily="34" charset="-122"/>
                <a:cs typeface="Arial" pitchFamily="34" charset="-120"/>
              </a:rPr>
              <a:t>Replies directly in writing</a:t>
            </a:r>
            <a:endParaRPr lang="en-US" sz="800" dirty="0"/>
          </a:p>
        </p:txBody>
      </p:sp>
      <p:sp>
        <p:nvSpPr>
          <p:cNvPr id="57" name="Shape 55"/>
          <p:cNvSpPr/>
          <p:nvPr/>
        </p:nvSpPr>
        <p:spPr>
          <a:xfrm>
            <a:off x="6693408" y="4315968"/>
            <a:ext cx="2039112" cy="886968"/>
          </a:xfrm>
          <a:prstGeom prst="rect">
            <a:avLst/>
          </a:prstGeom>
          <a:solidFill>
            <a:srgbClr val="FFFFFF"/>
          </a:solidFill>
          <a:ln w="15875">
            <a:solidFill>
              <a:srgbClr val="97999B"/>
            </a:solidFill>
            <a:prstDash val="dash"/>
          </a:ln>
        </p:spPr>
      </p:sp>
      <p:sp>
        <p:nvSpPr>
          <p:cNvPr id="58" name="Text 56"/>
          <p:cNvSpPr txBox="1"/>
          <p:nvPr/>
        </p:nvSpPr>
        <p:spPr>
          <a:xfrm>
            <a:off x="6784848" y="4379976"/>
            <a:ext cx="1856232" cy="777240"/>
          </a:xfrm>
          <a:prstGeom prst="rect">
            <a:avLst/>
          </a:prstGeom>
          <a:noFill/>
          <a:ln/>
        </p:spPr>
        <p:txBody>
          <a:bodyPr wrap="square" lIns="0" tIns="0" rIns="0" bIns="0" rtlCol="0" anchor="t"/>
          <a:lstStyle/>
          <a:p>
            <a:pPr indent="0" marL="0">
              <a:spcAft>
                <a:spcPts val="400"/>
              </a:spcAft>
              <a:buNone/>
            </a:pPr>
            <a:r>
              <a:rPr lang="en-US" sz="800" b="1" spc="100" kern="0" dirty="0">
                <a:solidFill>
                  <a:srgbClr val="63666A"/>
                </a:solidFill>
                <a:latin typeface="Arial" pitchFamily="34" charset="0"/>
                <a:ea typeface="Arial" pitchFamily="34" charset="-122"/>
                <a:cs typeface="Arial" pitchFamily="34" charset="-120"/>
              </a:rPr>
              <a:t>CONTINGENCY</a:t>
            </a:r>
            <a:endParaRPr lang="en-US" sz="800" dirty="0"/>
          </a:p>
          <a:p>
            <a:pPr indent="0" marL="0">
              <a:spcAft>
                <a:spcPts val="100"/>
              </a:spcAft>
              <a:buNone/>
            </a:pPr>
            <a:r>
              <a:rPr lang="en-US" sz="1050" b="1" dirty="0">
                <a:solidFill>
                  <a:srgbClr val="222222"/>
                </a:solidFill>
                <a:latin typeface="Arial" pitchFamily="34" charset="0"/>
                <a:ea typeface="Arial" pitchFamily="34" charset="-122"/>
                <a:cs typeface="Arial" pitchFamily="34" charset="-120"/>
              </a:rPr>
              <a:t>MoF refers the file back to DT or HaNoi Tax Office</a:t>
            </a:r>
            <a:endParaRPr lang="en-US" sz="800" dirty="0"/>
          </a:p>
          <a:p>
            <a:pPr indent="0" marL="0">
              <a:spcAft>
                <a:spcPts val="100"/>
              </a:spcAft>
              <a:buNone/>
            </a:pPr>
            <a:r>
              <a:rPr lang="en-US" sz="900" dirty="0">
                <a:solidFill>
                  <a:srgbClr val="63666A"/>
                </a:solidFill>
                <a:latin typeface="Arial" pitchFamily="34" charset="0"/>
                <a:ea typeface="Arial" pitchFamily="34" charset="-122"/>
                <a:cs typeface="Arial" pitchFamily="34" charset="-120"/>
              </a:rPr>
              <a:t>YMVN returns to discussions with HaNoi Tax Office</a:t>
            </a:r>
            <a:endParaRPr lang="en-US" sz="800" dirty="0"/>
          </a:p>
        </p:txBody>
      </p:sp>
      <p:sp>
        <p:nvSpPr>
          <p:cNvPr id="59" name="Shape 57"/>
          <p:cNvSpPr/>
          <p:nvPr/>
        </p:nvSpPr>
        <p:spPr>
          <a:xfrm flipV="1">
            <a:off x="6547104" y="1741932"/>
            <a:ext cx="91" cy="1522476"/>
          </a:xfrm>
          <a:prstGeom prst="line">
            <a:avLst/>
          </a:prstGeom>
          <a:noFill/>
          <a:ln w="19050">
            <a:solidFill>
              <a:srgbClr val="97999B"/>
            </a:solidFill>
            <a:prstDash val="solid"/>
          </a:ln>
        </p:spPr>
      </p:sp>
      <p:sp>
        <p:nvSpPr>
          <p:cNvPr id="60" name="Shape 58"/>
          <p:cNvSpPr/>
          <p:nvPr/>
        </p:nvSpPr>
        <p:spPr>
          <a:xfrm>
            <a:off x="6547104" y="1741932"/>
            <a:ext cx="146304" cy="91"/>
          </a:xfrm>
          <a:prstGeom prst="line">
            <a:avLst/>
          </a:prstGeom>
          <a:noFill/>
          <a:ln w="19050">
            <a:solidFill>
              <a:srgbClr val="97999B"/>
            </a:solidFill>
            <a:prstDash val="solid"/>
            <a:tailEnd type="triangle"/>
          </a:ln>
        </p:spPr>
      </p:sp>
      <p:sp>
        <p:nvSpPr>
          <p:cNvPr id="61" name="Shape 59"/>
          <p:cNvSpPr/>
          <p:nvPr/>
        </p:nvSpPr>
        <p:spPr>
          <a:xfrm>
            <a:off x="6547104" y="2702052"/>
            <a:ext cx="146304" cy="91"/>
          </a:xfrm>
          <a:prstGeom prst="line">
            <a:avLst/>
          </a:prstGeom>
          <a:noFill/>
          <a:ln w="19050">
            <a:solidFill>
              <a:srgbClr val="97999B"/>
            </a:solidFill>
            <a:prstDash val="solid"/>
            <a:tailEnd type="triangle"/>
          </a:ln>
        </p:spPr>
      </p:sp>
      <p:sp>
        <p:nvSpPr>
          <p:cNvPr id="62" name="Shape 60"/>
          <p:cNvSpPr/>
          <p:nvPr/>
        </p:nvSpPr>
        <p:spPr>
          <a:xfrm>
            <a:off x="6547104" y="4151376"/>
            <a:ext cx="91" cy="608076"/>
          </a:xfrm>
          <a:prstGeom prst="line">
            <a:avLst/>
          </a:prstGeom>
          <a:noFill/>
          <a:ln w="19050">
            <a:solidFill>
              <a:srgbClr val="97999B"/>
            </a:solidFill>
            <a:prstDash val="dash"/>
          </a:ln>
        </p:spPr>
      </p:sp>
      <p:sp>
        <p:nvSpPr>
          <p:cNvPr id="63" name="Shape 61"/>
          <p:cNvSpPr/>
          <p:nvPr/>
        </p:nvSpPr>
        <p:spPr>
          <a:xfrm>
            <a:off x="6547104" y="4759452"/>
            <a:ext cx="146304" cy="91"/>
          </a:xfrm>
          <a:prstGeom prst="line">
            <a:avLst/>
          </a:prstGeom>
          <a:noFill/>
          <a:ln w="19050">
            <a:solidFill>
              <a:srgbClr val="97999B"/>
            </a:solidFill>
            <a:prstDash val="dash"/>
            <a:tailEnd type="triangle"/>
          </a:ln>
        </p:spPr>
      </p:sp>
      <p:sp>
        <p:nvSpPr>
          <p:cNvPr id="64" name="Shape 62"/>
          <p:cNvSpPr/>
          <p:nvPr/>
        </p:nvSpPr>
        <p:spPr>
          <a:xfrm>
            <a:off x="8732520" y="1741932"/>
            <a:ext cx="320040" cy="91"/>
          </a:xfrm>
          <a:prstGeom prst="line">
            <a:avLst/>
          </a:prstGeom>
          <a:noFill/>
          <a:ln w="19050">
            <a:solidFill>
              <a:srgbClr val="97999B"/>
            </a:solidFill>
            <a:prstDash val="solid"/>
          </a:ln>
        </p:spPr>
      </p:sp>
      <p:sp>
        <p:nvSpPr>
          <p:cNvPr id="65" name="Shape 63"/>
          <p:cNvSpPr/>
          <p:nvPr/>
        </p:nvSpPr>
        <p:spPr>
          <a:xfrm>
            <a:off x="8732520" y="2702052"/>
            <a:ext cx="320040" cy="91"/>
          </a:xfrm>
          <a:prstGeom prst="line">
            <a:avLst/>
          </a:prstGeom>
          <a:noFill/>
          <a:ln w="19050">
            <a:solidFill>
              <a:srgbClr val="97999B"/>
            </a:solidFill>
            <a:prstDash val="solid"/>
          </a:ln>
        </p:spPr>
      </p:sp>
      <p:sp>
        <p:nvSpPr>
          <p:cNvPr id="66" name="Shape 64"/>
          <p:cNvSpPr/>
          <p:nvPr/>
        </p:nvSpPr>
        <p:spPr>
          <a:xfrm>
            <a:off x="9052560" y="1741932"/>
            <a:ext cx="91" cy="1965960"/>
          </a:xfrm>
          <a:prstGeom prst="line">
            <a:avLst/>
          </a:prstGeom>
          <a:noFill/>
          <a:ln w="19050">
            <a:solidFill>
              <a:srgbClr val="97999B"/>
            </a:solidFill>
            <a:prstDash val="solid"/>
          </a:ln>
        </p:spPr>
      </p:sp>
      <p:sp>
        <p:nvSpPr>
          <p:cNvPr id="67" name="Shape 65"/>
          <p:cNvSpPr/>
          <p:nvPr/>
        </p:nvSpPr>
        <p:spPr>
          <a:xfrm>
            <a:off x="9052560" y="3707892"/>
            <a:ext cx="320040" cy="91"/>
          </a:xfrm>
          <a:prstGeom prst="line">
            <a:avLst/>
          </a:prstGeom>
          <a:noFill/>
          <a:ln w="19050">
            <a:solidFill>
              <a:srgbClr val="97999B"/>
            </a:solidFill>
            <a:prstDash val="solid"/>
            <a:tailEnd type="triangle"/>
          </a:ln>
        </p:spPr>
      </p:sp>
      <p:sp>
        <p:nvSpPr>
          <p:cNvPr id="68" name="Shape 66"/>
          <p:cNvSpPr/>
          <p:nvPr/>
        </p:nvSpPr>
        <p:spPr>
          <a:xfrm>
            <a:off x="9665208" y="2258568"/>
            <a:ext cx="2039112" cy="886968"/>
          </a:xfrm>
          <a:prstGeom prst="rect">
            <a:avLst/>
          </a:prstGeom>
          <a:solidFill>
            <a:srgbClr val="F1F6E4"/>
          </a:solidFill>
          <a:ln w="15875">
            <a:solidFill>
              <a:srgbClr val="86BC25"/>
            </a:solidFill>
            <a:prstDash val="solid"/>
          </a:ln>
        </p:spPr>
      </p:sp>
      <p:sp>
        <p:nvSpPr>
          <p:cNvPr id="69" name="Text 67"/>
          <p:cNvSpPr txBox="1"/>
          <p:nvPr/>
        </p:nvSpPr>
        <p:spPr>
          <a:xfrm>
            <a:off x="9756648" y="2322576"/>
            <a:ext cx="1856232" cy="777240"/>
          </a:xfrm>
          <a:prstGeom prst="rect">
            <a:avLst/>
          </a:prstGeom>
          <a:noFill/>
          <a:ln/>
        </p:spPr>
        <p:txBody>
          <a:bodyPr wrap="square" lIns="0" tIns="0" rIns="0" bIns="0" rtlCol="0" anchor="t"/>
          <a:lstStyle/>
          <a:p>
            <a:pPr indent="0" marL="0">
              <a:spcAft>
                <a:spcPts val="400"/>
              </a:spcAft>
              <a:buNone/>
            </a:pPr>
            <a:r>
              <a:rPr lang="en-US" sz="800" b="1" spc="100" kern="0" dirty="0">
                <a:solidFill>
                  <a:srgbClr val="3C8F2A"/>
                </a:solidFill>
                <a:latin typeface="Arial" pitchFamily="34" charset="0"/>
                <a:ea typeface="Arial" pitchFamily="34" charset="-122"/>
                <a:cs typeface="Arial" pitchFamily="34" charset="-120"/>
              </a:rPr>
              <a:t>APPROVED</a:t>
            </a:r>
            <a:endParaRPr lang="en-US" sz="800" dirty="0"/>
          </a:p>
          <a:p>
            <a:pPr indent="0" marL="0">
              <a:spcAft>
                <a:spcPts val="100"/>
              </a:spcAft>
              <a:buNone/>
            </a:pPr>
            <a:r>
              <a:rPr lang="en-US" sz="1050" b="1" dirty="0">
                <a:solidFill>
                  <a:srgbClr val="000000"/>
                </a:solidFill>
                <a:latin typeface="Arial" pitchFamily="34" charset="0"/>
                <a:ea typeface="Arial" pitchFamily="34" charset="-122"/>
                <a:cs typeface="Arial" pitchFamily="34" charset="-120"/>
              </a:rPr>
              <a:t>Refund processed</a:t>
            </a:r>
            <a:endParaRPr lang="en-US" sz="800" dirty="0"/>
          </a:p>
        </p:txBody>
      </p:sp>
      <p:sp>
        <p:nvSpPr>
          <p:cNvPr id="70" name="Text 68"/>
          <p:cNvSpPr txBox="1"/>
          <p:nvPr/>
        </p:nvSpPr>
        <p:spPr>
          <a:xfrm>
            <a:off x="10789920" y="2313432"/>
            <a:ext cx="841248" cy="155448"/>
          </a:xfrm>
          <a:prstGeom prst="rect">
            <a:avLst/>
          </a:prstGeom>
          <a:solidFill>
            <a:srgbClr val="3C8F2A"/>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FAVOURABLE</a:t>
            </a:r>
            <a:endParaRPr lang="en-US" sz="650" dirty="0"/>
          </a:p>
        </p:txBody>
      </p:sp>
      <p:sp>
        <p:nvSpPr>
          <p:cNvPr id="71" name="Shape 69"/>
          <p:cNvSpPr/>
          <p:nvPr/>
        </p:nvSpPr>
        <p:spPr>
          <a:xfrm>
            <a:off x="9665208" y="4315968"/>
            <a:ext cx="2039112" cy="1847088"/>
          </a:xfrm>
          <a:prstGeom prst="rect">
            <a:avLst/>
          </a:prstGeom>
          <a:solidFill>
            <a:srgbClr val="FFFFFF"/>
          </a:solidFill>
          <a:ln w="15875">
            <a:solidFill>
              <a:srgbClr val="BBBCBC"/>
            </a:solidFill>
            <a:prstDash val="solid"/>
          </a:ln>
        </p:spPr>
      </p:sp>
      <p:sp>
        <p:nvSpPr>
          <p:cNvPr id="72" name="Text 70"/>
          <p:cNvSpPr txBox="1"/>
          <p:nvPr/>
        </p:nvSpPr>
        <p:spPr>
          <a:xfrm>
            <a:off x="9756648" y="4379976"/>
            <a:ext cx="1856232" cy="1737360"/>
          </a:xfrm>
          <a:prstGeom prst="rect">
            <a:avLst/>
          </a:prstGeom>
          <a:noFill/>
          <a:ln/>
        </p:spPr>
        <p:txBody>
          <a:bodyPr wrap="square" lIns="0" tIns="0" rIns="0" bIns="0" rtlCol="0" anchor="t"/>
          <a:lstStyle/>
          <a:p>
            <a:pPr indent="0" marL="0">
              <a:spcAft>
                <a:spcPts val="400"/>
              </a:spcAft>
              <a:buNone/>
            </a:pPr>
            <a:r>
              <a:rPr lang="en-US" sz="800" b="1" spc="100" kern="0" dirty="0">
                <a:solidFill>
                  <a:srgbClr val="63666A"/>
                </a:solidFill>
                <a:latin typeface="Arial" pitchFamily="34" charset="0"/>
                <a:ea typeface="Arial" pitchFamily="34" charset="-122"/>
                <a:cs typeface="Arial" pitchFamily="34" charset="-120"/>
              </a:rPr>
              <a:t>REJECTED</a:t>
            </a:r>
            <a:endParaRPr lang="en-US" sz="800" dirty="0"/>
          </a:p>
          <a:p>
            <a:pPr indent="0" marL="0">
              <a:spcAft>
                <a:spcPts val="100"/>
              </a:spcAft>
              <a:buNone/>
            </a:pPr>
            <a:r>
              <a:rPr lang="en-US" sz="1050" b="1" dirty="0">
                <a:solidFill>
                  <a:srgbClr val="000000"/>
                </a:solidFill>
                <a:latin typeface="Arial" pitchFamily="34" charset="0"/>
                <a:ea typeface="Arial" pitchFamily="34" charset="-122"/>
                <a:cs typeface="Arial" pitchFamily="34" charset="-120"/>
              </a:rPr>
              <a:t>YMVN considers further recourse</a:t>
            </a:r>
            <a:endParaRPr lang="en-US" sz="800" dirty="0"/>
          </a:p>
          <a:p>
            <a:pPr indent="0" marL="0">
              <a:spcAft>
                <a:spcPts val="100"/>
              </a:spcAft>
              <a:buNone/>
            </a:pPr>
            <a:r>
              <a:rPr lang="en-US" sz="900" dirty="0">
                <a:solidFill>
                  <a:srgbClr val="63666A"/>
                </a:solidFill>
                <a:latin typeface="Arial" pitchFamily="34" charset="0"/>
                <a:ea typeface="Arial" pitchFamily="34" charset="-122"/>
                <a:cs typeface="Arial" pitchFamily="34" charset="-120"/>
              </a:rPr>
              <a:t>Administrative complaint: low chance of success, as MoF and DT have already aligned.</a:t>
            </a:r>
            <a:endParaRPr lang="en-US" sz="800" dirty="0"/>
          </a:p>
          <a:p>
            <a:pPr indent="0" marL="0">
              <a:spcAft>
                <a:spcPts val="100"/>
              </a:spcAft>
              <a:buNone/>
            </a:pPr>
            <a:r>
              <a:rPr lang="en-US" sz="900" dirty="0">
                <a:solidFill>
                  <a:srgbClr val="63666A"/>
                </a:solidFill>
                <a:latin typeface="Arial" pitchFamily="34" charset="0"/>
                <a:ea typeface="Arial" pitchFamily="34" charset="-122"/>
                <a:cs typeface="Arial" pitchFamily="34" charset="-120"/>
              </a:rPr>
              <a:t>Administrative lawsuit before the court.</a:t>
            </a:r>
            <a:endParaRPr lang="en-US" sz="800" dirty="0"/>
          </a:p>
          <a:p>
            <a:pPr indent="0" marL="0">
              <a:spcAft>
                <a:spcPts val="100"/>
              </a:spcAft>
              <a:buNone/>
            </a:pPr>
            <a:r>
              <a:rPr lang="en-US" sz="900" dirty="0">
                <a:solidFill>
                  <a:srgbClr val="63666A"/>
                </a:solidFill>
                <a:latin typeface="Arial" pitchFamily="34" charset="0"/>
                <a:ea typeface="Arial" pitchFamily="34" charset="-122"/>
                <a:cs typeface="Arial" pitchFamily="34" charset="-120"/>
              </a:rPr>
              <a:t>The decision rests with YMVN.</a:t>
            </a:r>
            <a:endParaRPr lang="en-US" sz="800" dirty="0"/>
          </a:p>
        </p:txBody>
      </p:sp>
      <p:sp>
        <p:nvSpPr>
          <p:cNvPr id="73" name="Text 71"/>
          <p:cNvSpPr txBox="1"/>
          <p:nvPr/>
        </p:nvSpPr>
        <p:spPr>
          <a:xfrm>
            <a:off x="10789920" y="4370832"/>
            <a:ext cx="841248" cy="155448"/>
          </a:xfrm>
          <a:prstGeom prst="rect">
            <a:avLst/>
          </a:prstGeom>
          <a:solidFill>
            <a:srgbClr val="DA291C"/>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NEGATIVE</a:t>
            </a:r>
            <a:endParaRPr lang="en-US" sz="650" dirty="0"/>
          </a:p>
        </p:txBody>
      </p:sp>
      <p:sp>
        <p:nvSpPr>
          <p:cNvPr id="74" name="Shape 72"/>
          <p:cNvSpPr/>
          <p:nvPr/>
        </p:nvSpPr>
        <p:spPr>
          <a:xfrm flipV="1">
            <a:off x="9518904" y="2702052"/>
            <a:ext cx="91" cy="562356"/>
          </a:xfrm>
          <a:prstGeom prst="line">
            <a:avLst/>
          </a:prstGeom>
          <a:noFill/>
          <a:ln w="19050">
            <a:solidFill>
              <a:srgbClr val="97999B"/>
            </a:solidFill>
            <a:prstDash val="solid"/>
          </a:ln>
        </p:spPr>
      </p:sp>
      <p:sp>
        <p:nvSpPr>
          <p:cNvPr id="75" name="Shape 73"/>
          <p:cNvSpPr/>
          <p:nvPr/>
        </p:nvSpPr>
        <p:spPr>
          <a:xfrm>
            <a:off x="9518904" y="2702052"/>
            <a:ext cx="146304" cy="91"/>
          </a:xfrm>
          <a:prstGeom prst="line">
            <a:avLst/>
          </a:prstGeom>
          <a:noFill/>
          <a:ln w="19050">
            <a:solidFill>
              <a:srgbClr val="97999B"/>
            </a:solidFill>
            <a:prstDash val="solid"/>
            <a:tailEnd type="triangle"/>
          </a:ln>
        </p:spPr>
      </p:sp>
      <p:sp>
        <p:nvSpPr>
          <p:cNvPr id="76" name="Shape 74"/>
          <p:cNvSpPr/>
          <p:nvPr/>
        </p:nvSpPr>
        <p:spPr>
          <a:xfrm>
            <a:off x="9518904" y="4151376"/>
            <a:ext cx="91" cy="1088136"/>
          </a:xfrm>
          <a:prstGeom prst="line">
            <a:avLst/>
          </a:prstGeom>
          <a:noFill/>
          <a:ln w="19050">
            <a:solidFill>
              <a:srgbClr val="97999B"/>
            </a:solidFill>
            <a:prstDash val="solid"/>
          </a:ln>
        </p:spPr>
      </p:sp>
      <p:sp>
        <p:nvSpPr>
          <p:cNvPr id="77" name="Shape 75"/>
          <p:cNvSpPr/>
          <p:nvPr/>
        </p:nvSpPr>
        <p:spPr>
          <a:xfrm>
            <a:off x="9518904" y="5239512"/>
            <a:ext cx="146304" cy="91"/>
          </a:xfrm>
          <a:prstGeom prst="line">
            <a:avLst/>
          </a:prstGeom>
          <a:noFill/>
          <a:ln w="19050">
            <a:solidFill>
              <a:srgbClr val="97999B"/>
            </a:solidFill>
            <a:prstDash val="solid"/>
            <a:tailEnd type="triangle"/>
          </a:ln>
        </p:spPr>
      </p:sp>
      <p:sp>
        <p:nvSpPr>
          <p:cNvPr id="78" name="Shape 76"/>
          <p:cNvSpPr/>
          <p:nvPr/>
        </p:nvSpPr>
        <p:spPr>
          <a:xfrm>
            <a:off x="457200" y="6355080"/>
            <a:ext cx="256032" cy="164592"/>
          </a:xfrm>
          <a:prstGeom prst="rect">
            <a:avLst/>
          </a:prstGeom>
          <a:solidFill>
            <a:srgbClr val="046A38"/>
          </a:solidFill>
          <a:ln w="12700">
            <a:solidFill>
              <a:srgbClr val="046A38"/>
            </a:solidFill>
            <a:prstDash val="solid"/>
          </a:ln>
        </p:spPr>
      </p:sp>
      <p:sp>
        <p:nvSpPr>
          <p:cNvPr id="79" name="Text 77"/>
          <p:cNvSpPr txBox="1"/>
          <p:nvPr/>
        </p:nvSpPr>
        <p:spPr>
          <a:xfrm>
            <a:off x="786384" y="6309360"/>
            <a:ext cx="1828800" cy="256032"/>
          </a:xfrm>
          <a:prstGeom prst="rect">
            <a:avLst/>
          </a:prstGeom>
          <a:noFill/>
          <a:ln/>
        </p:spPr>
        <p:txBody>
          <a:bodyPr wrap="square" lIns="0" tIns="0" rIns="0" bIns="0" rtlCol="0" anchor="ctr"/>
          <a:lstStyle/>
          <a:p>
            <a:pPr indent="0" marL="0">
              <a:buNone/>
            </a:pPr>
            <a:r>
              <a:rPr lang="en-US" sz="1000" dirty="0">
                <a:solidFill>
                  <a:srgbClr val="63666A"/>
                </a:solidFill>
                <a:latin typeface="Arial" pitchFamily="34" charset="0"/>
                <a:ea typeface="Arial" pitchFamily="34" charset="-122"/>
                <a:cs typeface="Arial" pitchFamily="34" charset="-120"/>
              </a:rPr>
              <a:t>YMVN action</a:t>
            </a:r>
            <a:endParaRPr lang="en-US" sz="1000" dirty="0"/>
          </a:p>
        </p:txBody>
      </p:sp>
      <p:sp>
        <p:nvSpPr>
          <p:cNvPr id="80" name="Shape 78"/>
          <p:cNvSpPr/>
          <p:nvPr/>
        </p:nvSpPr>
        <p:spPr>
          <a:xfrm>
            <a:off x="2606040" y="6355080"/>
            <a:ext cx="256032" cy="164592"/>
          </a:xfrm>
          <a:prstGeom prst="rect">
            <a:avLst/>
          </a:prstGeom>
          <a:solidFill>
            <a:srgbClr val="F1F6E4"/>
          </a:solidFill>
          <a:ln w="12700">
            <a:solidFill>
              <a:srgbClr val="86BC25"/>
            </a:solidFill>
            <a:prstDash val="solid"/>
          </a:ln>
        </p:spPr>
      </p:sp>
      <p:sp>
        <p:nvSpPr>
          <p:cNvPr id="81" name="Text 79"/>
          <p:cNvSpPr txBox="1"/>
          <p:nvPr/>
        </p:nvSpPr>
        <p:spPr>
          <a:xfrm>
            <a:off x="2935224" y="6309360"/>
            <a:ext cx="1828800" cy="256032"/>
          </a:xfrm>
          <a:prstGeom prst="rect">
            <a:avLst/>
          </a:prstGeom>
          <a:noFill/>
          <a:ln/>
        </p:spPr>
        <p:txBody>
          <a:bodyPr wrap="square" lIns="0" tIns="0" rIns="0" bIns="0" rtlCol="0" anchor="ctr"/>
          <a:lstStyle/>
          <a:p>
            <a:pPr indent="0" marL="0">
              <a:buNone/>
            </a:pPr>
            <a:r>
              <a:rPr lang="en-US" sz="1000" dirty="0">
                <a:solidFill>
                  <a:srgbClr val="63666A"/>
                </a:solidFill>
                <a:latin typeface="Arial" pitchFamily="34" charset="0"/>
                <a:ea typeface="Arial" pitchFamily="34" charset="-122"/>
                <a:cs typeface="Arial" pitchFamily="34" charset="-120"/>
              </a:rPr>
              <a:t>Favourable outcome</a:t>
            </a:r>
            <a:endParaRPr lang="en-US" sz="1000" dirty="0"/>
          </a:p>
        </p:txBody>
      </p:sp>
      <p:sp>
        <p:nvSpPr>
          <p:cNvPr id="82" name="Shape 80"/>
          <p:cNvSpPr/>
          <p:nvPr/>
        </p:nvSpPr>
        <p:spPr>
          <a:xfrm>
            <a:off x="4754880" y="6355080"/>
            <a:ext cx="256032" cy="164592"/>
          </a:xfrm>
          <a:prstGeom prst="rect">
            <a:avLst/>
          </a:prstGeom>
          <a:solidFill>
            <a:srgbClr val="FFFFFF"/>
          </a:solidFill>
          <a:ln w="12700">
            <a:solidFill>
              <a:srgbClr val="BBBCBC"/>
            </a:solidFill>
            <a:prstDash val="solid"/>
          </a:ln>
        </p:spPr>
      </p:sp>
      <p:sp>
        <p:nvSpPr>
          <p:cNvPr id="83" name="Shape 81"/>
          <p:cNvSpPr/>
          <p:nvPr/>
        </p:nvSpPr>
        <p:spPr>
          <a:xfrm>
            <a:off x="4901184" y="6355080"/>
            <a:ext cx="109728" cy="64008"/>
          </a:xfrm>
          <a:prstGeom prst="rect">
            <a:avLst/>
          </a:prstGeom>
          <a:solidFill>
            <a:srgbClr val="ED8B00"/>
          </a:solidFill>
          <a:ln w="6350">
            <a:solidFill>
              <a:srgbClr val="ED8B00"/>
            </a:solidFill>
            <a:prstDash val="solid"/>
          </a:ln>
        </p:spPr>
      </p:sp>
      <p:sp>
        <p:nvSpPr>
          <p:cNvPr id="84" name="Text 82"/>
          <p:cNvSpPr txBox="1"/>
          <p:nvPr/>
        </p:nvSpPr>
        <p:spPr>
          <a:xfrm>
            <a:off x="5084064" y="6309360"/>
            <a:ext cx="1828800" cy="256032"/>
          </a:xfrm>
          <a:prstGeom prst="rect">
            <a:avLst/>
          </a:prstGeom>
          <a:noFill/>
          <a:ln/>
        </p:spPr>
        <p:txBody>
          <a:bodyPr wrap="square" lIns="0" tIns="0" rIns="0" bIns="0" rtlCol="0" anchor="ctr"/>
          <a:lstStyle/>
          <a:p>
            <a:pPr indent="0" marL="0">
              <a:buNone/>
            </a:pPr>
            <a:r>
              <a:rPr lang="en-US" sz="1000" dirty="0">
                <a:solidFill>
                  <a:srgbClr val="63666A"/>
                </a:solidFill>
                <a:latin typeface="Arial" pitchFamily="34" charset="0"/>
                <a:ea typeface="Arial" pitchFamily="34" charset="-122"/>
                <a:cs typeface="Arial" pitchFamily="34" charset="-120"/>
              </a:rPr>
              <a:t>Intermediate outcome</a:t>
            </a:r>
            <a:endParaRPr lang="en-US" sz="1000" dirty="0"/>
          </a:p>
        </p:txBody>
      </p:sp>
      <p:sp>
        <p:nvSpPr>
          <p:cNvPr id="85" name="Shape 83"/>
          <p:cNvSpPr/>
          <p:nvPr/>
        </p:nvSpPr>
        <p:spPr>
          <a:xfrm>
            <a:off x="6903720" y="6355080"/>
            <a:ext cx="256032" cy="164592"/>
          </a:xfrm>
          <a:prstGeom prst="rect">
            <a:avLst/>
          </a:prstGeom>
          <a:solidFill>
            <a:srgbClr val="FFFFFF"/>
          </a:solidFill>
          <a:ln w="12700">
            <a:solidFill>
              <a:srgbClr val="BBBCBC"/>
            </a:solidFill>
            <a:prstDash val="solid"/>
          </a:ln>
        </p:spPr>
      </p:sp>
      <p:sp>
        <p:nvSpPr>
          <p:cNvPr id="86" name="Shape 84"/>
          <p:cNvSpPr/>
          <p:nvPr/>
        </p:nvSpPr>
        <p:spPr>
          <a:xfrm>
            <a:off x="7050024" y="6355080"/>
            <a:ext cx="109728" cy="64008"/>
          </a:xfrm>
          <a:prstGeom prst="rect">
            <a:avLst/>
          </a:prstGeom>
          <a:solidFill>
            <a:srgbClr val="DA291C"/>
          </a:solidFill>
          <a:ln w="6350">
            <a:solidFill>
              <a:srgbClr val="DA291C"/>
            </a:solidFill>
            <a:prstDash val="solid"/>
          </a:ln>
        </p:spPr>
      </p:sp>
      <p:sp>
        <p:nvSpPr>
          <p:cNvPr id="87" name="Text 85"/>
          <p:cNvSpPr txBox="1"/>
          <p:nvPr/>
        </p:nvSpPr>
        <p:spPr>
          <a:xfrm>
            <a:off x="7232904" y="6309360"/>
            <a:ext cx="1828800" cy="256032"/>
          </a:xfrm>
          <a:prstGeom prst="rect">
            <a:avLst/>
          </a:prstGeom>
          <a:noFill/>
          <a:ln/>
        </p:spPr>
        <p:txBody>
          <a:bodyPr wrap="square" lIns="0" tIns="0" rIns="0" bIns="0" rtlCol="0" anchor="ctr"/>
          <a:lstStyle/>
          <a:p>
            <a:pPr indent="0" marL="0">
              <a:buNone/>
            </a:pPr>
            <a:r>
              <a:rPr lang="en-US" sz="1000" dirty="0">
                <a:solidFill>
                  <a:srgbClr val="63666A"/>
                </a:solidFill>
                <a:latin typeface="Arial" pitchFamily="34" charset="0"/>
                <a:ea typeface="Arial" pitchFamily="34" charset="-122"/>
                <a:cs typeface="Arial" pitchFamily="34" charset="-120"/>
              </a:rPr>
              <a:t>Negative outcome</a:t>
            </a:r>
            <a:endParaRPr lang="en-US" sz="1000" dirty="0"/>
          </a:p>
        </p:txBody>
      </p:sp>
      <p:sp>
        <p:nvSpPr>
          <p:cNvPr id="88" name="Text 86"/>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7999B"/>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822960"/>
          </a:xfrm>
          <a:prstGeom prst="rect">
            <a:avLst/>
          </a:prstGeom>
          <a:noFill/>
          <a:ln/>
        </p:spPr>
        <p:txBody>
          <a:bodyPr wrap="square" lIns="0" tIns="0" rIns="0" bIns="0" rtlCol="0" anchor="t"/>
          <a:lstStyle/>
          <a:p>
            <a:pPr indent="0" marL="0">
              <a:buNone/>
            </a:pPr>
            <a:r>
              <a:rPr lang="en-US" sz="2400" b="1" dirty="0">
                <a:solidFill>
                  <a:srgbClr val="000000"/>
                </a:solidFill>
                <a:latin typeface="Arial" pitchFamily="34" charset="0"/>
                <a:ea typeface="Arial" pitchFamily="34" charset="-122"/>
                <a:cs typeface="Arial" pitchFamily="34" charset="-120"/>
              </a:rPr>
              <a:t>The Step 2 letter makes three points and signals the escalation path</a:t>
            </a:r>
            <a:endParaRPr lang="en-US" sz="2400" dirty="0"/>
          </a:p>
        </p:txBody>
      </p:sp>
      <p:sp>
        <p:nvSpPr>
          <p:cNvPr id="3" name="Shape 1"/>
          <p:cNvSpPr/>
          <p:nvPr/>
        </p:nvSpPr>
        <p:spPr>
          <a:xfrm>
            <a:off x="457200" y="1463040"/>
            <a:ext cx="3291840" cy="4663440"/>
          </a:xfrm>
          <a:prstGeom prst="rect">
            <a:avLst/>
          </a:prstGeom>
          <a:solidFill>
            <a:srgbClr val="1C3D26"/>
          </a:solidFill>
          <a:ln w="12700">
            <a:solidFill>
              <a:srgbClr val="1C3D26"/>
            </a:solidFill>
            <a:prstDash val="solid"/>
          </a:ln>
        </p:spPr>
      </p:sp>
      <p:sp>
        <p:nvSpPr>
          <p:cNvPr id="4" name="Text 2"/>
          <p:cNvSpPr txBox="1"/>
          <p:nvPr/>
        </p:nvSpPr>
        <p:spPr>
          <a:xfrm>
            <a:off x="731520" y="1691640"/>
            <a:ext cx="2743200" cy="4206240"/>
          </a:xfrm>
          <a:prstGeom prst="rect">
            <a:avLst/>
          </a:prstGeom>
          <a:noFill/>
          <a:ln/>
        </p:spPr>
        <p:txBody>
          <a:bodyPr wrap="square" lIns="0" tIns="0" rIns="0" bIns="0" rtlCol="0" anchor="t"/>
          <a:lstStyle/>
          <a:p>
            <a:pPr indent="0" marL="0">
              <a:spcAft>
                <a:spcPts val="1000"/>
              </a:spcAft>
              <a:buNone/>
            </a:pPr>
            <a:r>
              <a:rPr lang="en-US" sz="900" b="1" spc="100" kern="0" dirty="0">
                <a:solidFill>
                  <a:srgbClr val="86BC25"/>
                </a:solidFill>
                <a:latin typeface="Arial" pitchFamily="34" charset="0"/>
                <a:ea typeface="Arial" pitchFamily="34" charset="-122"/>
                <a:cs typeface="Arial" pitchFamily="34" charset="-120"/>
              </a:rPr>
              <a:t>TO</a:t>
            </a:r>
            <a:endParaRPr lang="en-US" sz="900" dirty="0"/>
          </a:p>
          <a:p>
            <a:pPr indent="0" marL="0">
              <a:spcAft>
                <a:spcPts val="1000"/>
              </a:spcAft>
              <a:buNone/>
            </a:pPr>
            <a:r>
              <a:rPr lang="en-US" sz="1400" dirty="0">
                <a:solidFill>
                  <a:srgbClr val="FFFFFF"/>
                </a:solidFill>
                <a:latin typeface="Arial" pitchFamily="34" charset="0"/>
                <a:ea typeface="Arial" pitchFamily="34" charset="-122"/>
                <a:cs typeface="Arial" pitchFamily="34" charset="-120"/>
              </a:rPr>
              <a:t>HaNoi Tax Office</a:t>
            </a:r>
            <a:endParaRPr lang="en-US" sz="900" dirty="0"/>
          </a:p>
          <a:p>
            <a:pPr indent="0" marL="0">
              <a:spcAft>
                <a:spcPts val="1000"/>
              </a:spcAft>
              <a:buNone/>
            </a:pPr>
            <a:r>
              <a:rPr lang="en-US" sz="900" b="1" spc="100" kern="0" dirty="0">
                <a:solidFill>
                  <a:srgbClr val="86BC25"/>
                </a:solidFill>
                <a:latin typeface="Arial" pitchFamily="34" charset="0"/>
                <a:ea typeface="Arial" pitchFamily="34" charset="-122"/>
                <a:cs typeface="Arial" pitchFamily="34" charset="-120"/>
              </a:rPr>
              <a:t>COPY</a:t>
            </a:r>
            <a:endParaRPr lang="en-US" sz="900" dirty="0"/>
          </a:p>
          <a:p>
            <a:pPr indent="0" marL="0">
              <a:spcAft>
                <a:spcPts val="1000"/>
              </a:spcAft>
              <a:buNone/>
            </a:pPr>
            <a:r>
              <a:rPr lang="en-US" sz="1400" dirty="0">
                <a:solidFill>
                  <a:srgbClr val="FFFFFF"/>
                </a:solidFill>
                <a:latin typeface="Arial" pitchFamily="34" charset="0"/>
                <a:ea typeface="Arial" pitchFamily="34" charset="-122"/>
                <a:cs typeface="Arial" pitchFamily="34" charset="-120"/>
              </a:rPr>
              <a:t>Department of Taxation, the authority that issued the guidance</a:t>
            </a:r>
            <a:endParaRPr lang="en-US" sz="900" dirty="0"/>
          </a:p>
          <a:p>
            <a:pPr indent="0" marL="0">
              <a:spcAft>
                <a:spcPts val="1000"/>
              </a:spcAft>
              <a:buNone/>
            </a:pPr>
            <a:r>
              <a:rPr lang="en-US" sz="900" b="1" spc="100" kern="0" dirty="0">
                <a:solidFill>
                  <a:srgbClr val="86BC25"/>
                </a:solidFill>
                <a:latin typeface="Arial" pitchFamily="34" charset="0"/>
                <a:ea typeface="Arial" pitchFamily="34" charset="-122"/>
                <a:cs typeface="Arial" pitchFamily="34" charset="-120"/>
              </a:rPr>
              <a:t>CONSIDER COPYING</a:t>
            </a:r>
            <a:endParaRPr lang="en-US" sz="900" dirty="0"/>
          </a:p>
          <a:p>
            <a:pPr indent="0" marL="0">
              <a:spcAft>
                <a:spcPts val="1000"/>
              </a:spcAft>
              <a:buNone/>
            </a:pPr>
            <a:r>
              <a:rPr lang="en-US" sz="1400" dirty="0">
                <a:solidFill>
                  <a:srgbClr val="FFFFFF"/>
                </a:solidFill>
                <a:latin typeface="Arial" pitchFamily="34" charset="0"/>
                <a:ea typeface="Arial" pitchFamily="34" charset="-122"/>
                <a:cs typeface="Arial" pitchFamily="34" charset="-120"/>
              </a:rPr>
              <a:t>Ministry of Finance, the Japan Embassy, JCCI</a:t>
            </a:r>
            <a:endParaRPr lang="en-US" sz="900" dirty="0"/>
          </a:p>
          <a:p>
            <a:pPr indent="0" marL="0">
              <a:spcAft>
                <a:spcPts val="1000"/>
              </a:spcAft>
              <a:buNone/>
            </a:pPr>
            <a:r>
              <a:rPr lang="en-US" sz="900" b="1" spc="100" kern="0" dirty="0">
                <a:solidFill>
                  <a:srgbClr val="86BC25"/>
                </a:solidFill>
                <a:latin typeface="Arial" pitchFamily="34" charset="0"/>
                <a:ea typeface="Arial" pitchFamily="34" charset="-122"/>
                <a:cs typeface="Arial" pitchFamily="34" charset="-120"/>
              </a:rPr>
              <a:t>TIMING</a:t>
            </a:r>
            <a:endParaRPr lang="en-US" sz="900" dirty="0"/>
          </a:p>
          <a:p>
            <a:pPr indent="0" marL="0">
              <a:spcAft>
                <a:spcPts val="1000"/>
              </a:spcAft>
              <a:buNone/>
            </a:pPr>
            <a:r>
              <a:rPr lang="en-US" sz="1400" dirty="0">
                <a:solidFill>
                  <a:srgbClr val="FFFFFF"/>
                </a:solidFill>
                <a:latin typeface="Arial" pitchFamily="34" charset="0"/>
                <a:ea typeface="Arial" pitchFamily="34" charset="-122"/>
                <a:cs typeface="Arial" pitchFamily="34" charset="-120"/>
              </a:rPr>
              <a:t>Immediately after Step 1, if HaNoi Tax Office’s position is unfavourable</a:t>
            </a:r>
            <a:endParaRPr lang="en-US" sz="900" dirty="0"/>
          </a:p>
        </p:txBody>
      </p:sp>
      <p:sp>
        <p:nvSpPr>
          <p:cNvPr id="5" name="Shape 3"/>
          <p:cNvSpPr/>
          <p:nvPr/>
        </p:nvSpPr>
        <p:spPr>
          <a:xfrm>
            <a:off x="4206240" y="1554480"/>
            <a:ext cx="548640" cy="548640"/>
          </a:xfrm>
          <a:prstGeom prst="ellipse">
            <a:avLst/>
          </a:prstGeom>
          <a:solidFill>
            <a:srgbClr val="86BC25"/>
          </a:solidFill>
          <a:ln w="19050">
            <a:solidFill>
              <a:srgbClr val="86BC25"/>
            </a:solidFill>
            <a:prstDash val="solid"/>
          </a:ln>
        </p:spPr>
      </p:sp>
      <p:sp>
        <p:nvSpPr>
          <p:cNvPr id="6" name="Text 4"/>
          <p:cNvSpPr txBox="1"/>
          <p:nvPr/>
        </p:nvSpPr>
        <p:spPr>
          <a:xfrm>
            <a:off x="4206240" y="1554480"/>
            <a:ext cx="548640" cy="548640"/>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4937760" y="1508760"/>
            <a:ext cx="6766560" cy="132588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Arial" pitchFamily="34" charset="0"/>
                <a:ea typeface="Arial" pitchFamily="34" charset="-122"/>
                <a:cs typeface="Arial" pitchFamily="34" charset="-120"/>
              </a:rPr>
              <a:t>Request the refund</a:t>
            </a:r>
            <a:endParaRPr lang="en-US" sz="1800" dirty="0"/>
          </a:p>
          <a:p>
            <a:pPr indent="0" marL="0">
              <a:spcAft>
                <a:spcPts val="400"/>
              </a:spcAft>
              <a:buNone/>
            </a:pPr>
            <a:r>
              <a:rPr lang="en-US" sz="1400" dirty="0">
                <a:solidFill>
                  <a:srgbClr val="222222"/>
                </a:solidFill>
                <a:latin typeface="Arial" pitchFamily="34" charset="0"/>
                <a:ea typeface="Arial" pitchFamily="34" charset="-122"/>
                <a:cs typeface="Arial" pitchFamily="34" charset="-120"/>
              </a:rPr>
              <a:t>YMVN reads the DT’s guidance as confirming eligibility for the refund, and asks HaNoi Tax Office to process it.</a:t>
            </a:r>
            <a:endParaRPr lang="en-US" sz="1800" dirty="0"/>
          </a:p>
        </p:txBody>
      </p:sp>
      <p:sp>
        <p:nvSpPr>
          <p:cNvPr id="8" name="Shape 6"/>
          <p:cNvSpPr/>
          <p:nvPr/>
        </p:nvSpPr>
        <p:spPr>
          <a:xfrm>
            <a:off x="4206240" y="3108960"/>
            <a:ext cx="548640" cy="548640"/>
          </a:xfrm>
          <a:prstGeom prst="ellipse">
            <a:avLst/>
          </a:prstGeom>
          <a:solidFill>
            <a:srgbClr val="86BC25"/>
          </a:solidFill>
          <a:ln w="19050">
            <a:solidFill>
              <a:srgbClr val="86BC25"/>
            </a:solidFill>
            <a:prstDash val="solid"/>
          </a:ln>
        </p:spPr>
      </p:sp>
      <p:sp>
        <p:nvSpPr>
          <p:cNvPr id="9" name="Text 7"/>
          <p:cNvSpPr txBox="1"/>
          <p:nvPr/>
        </p:nvSpPr>
        <p:spPr>
          <a:xfrm>
            <a:off x="4206240" y="3108960"/>
            <a:ext cx="548640" cy="548640"/>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4937760" y="3063240"/>
            <a:ext cx="6766560" cy="132588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Arial" pitchFamily="34" charset="0"/>
                <a:ea typeface="Arial" pitchFamily="34" charset="-122"/>
                <a:cs typeface="Arial" pitchFamily="34" charset="-120"/>
              </a:rPr>
              <a:t>Propose a joint meeting if the guidance is unclear</a:t>
            </a:r>
            <a:endParaRPr lang="en-US" sz="1800" dirty="0"/>
          </a:p>
          <a:p>
            <a:pPr indent="0" marL="0">
              <a:spcAft>
                <a:spcPts val="400"/>
              </a:spcAft>
              <a:buNone/>
            </a:pPr>
            <a:r>
              <a:rPr lang="en-US" sz="1400" dirty="0">
                <a:solidFill>
                  <a:srgbClr val="222222"/>
                </a:solidFill>
                <a:latin typeface="Arial" pitchFamily="34" charset="0"/>
                <a:ea typeface="Arial" pitchFamily="34" charset="-122"/>
                <a:cs typeface="Arial" pitchFamily="34" charset="-120"/>
              </a:rPr>
              <a:t>If HaNoi Tax Office considers the guidance insufficiently clear, it is asked to report to the DT and arrange a meeting of the parties (with the MoF, the Japan Embassy and JCCI where appropriate) to reach a unified view.</a:t>
            </a:r>
            <a:endParaRPr lang="en-US" sz="1800" dirty="0"/>
          </a:p>
        </p:txBody>
      </p:sp>
      <p:sp>
        <p:nvSpPr>
          <p:cNvPr id="11" name="Shape 9"/>
          <p:cNvSpPr/>
          <p:nvPr/>
        </p:nvSpPr>
        <p:spPr>
          <a:xfrm>
            <a:off x="4206240" y="4663440"/>
            <a:ext cx="548640" cy="548640"/>
          </a:xfrm>
          <a:prstGeom prst="ellipse">
            <a:avLst/>
          </a:prstGeom>
          <a:solidFill>
            <a:srgbClr val="86BC25"/>
          </a:solidFill>
          <a:ln w="19050">
            <a:solidFill>
              <a:srgbClr val="86BC25"/>
            </a:solidFill>
            <a:prstDash val="solid"/>
          </a:ln>
        </p:spPr>
      </p:sp>
      <p:sp>
        <p:nvSpPr>
          <p:cNvPr id="12" name="Text 10"/>
          <p:cNvSpPr txBox="1"/>
          <p:nvPr/>
        </p:nvSpPr>
        <p:spPr>
          <a:xfrm>
            <a:off x="4206240" y="4663440"/>
            <a:ext cx="548640" cy="548640"/>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3</a:t>
            </a:r>
            <a:endParaRPr lang="en-US" sz="1600" dirty="0"/>
          </a:p>
        </p:txBody>
      </p:sp>
      <p:sp>
        <p:nvSpPr>
          <p:cNvPr id="13" name="Text 11"/>
          <p:cNvSpPr txBox="1"/>
          <p:nvPr/>
        </p:nvSpPr>
        <p:spPr>
          <a:xfrm>
            <a:off x="4937760" y="4617720"/>
            <a:ext cx="6766560" cy="132588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Arial" pitchFamily="34" charset="0"/>
                <a:ea typeface="Arial" pitchFamily="34" charset="-122"/>
                <a:cs typeface="Arial" pitchFamily="34" charset="-120"/>
              </a:rPr>
              <a:t>State the intention to escalate</a:t>
            </a:r>
            <a:endParaRPr lang="en-US" sz="1800" dirty="0"/>
          </a:p>
          <a:p>
            <a:pPr indent="0" marL="0">
              <a:spcAft>
                <a:spcPts val="400"/>
              </a:spcAft>
              <a:buNone/>
            </a:pPr>
            <a:r>
              <a:rPr lang="en-US" sz="1400" dirty="0">
                <a:solidFill>
                  <a:srgbClr val="222222"/>
                </a:solidFill>
                <a:latin typeface="Arial" pitchFamily="34" charset="0"/>
                <a:ea typeface="Arial" pitchFamily="34" charset="-122"/>
                <a:cs typeface="Arial" pitchFamily="34" charset="-120"/>
              </a:rPr>
              <a:t>If HaNoi Tax Office still does not agree, YMVN will petition the Ministry of Finance and copy the relevant parties.</a:t>
            </a:r>
            <a:endParaRPr lang="en-US" sz="1800" dirty="0"/>
          </a:p>
        </p:txBody>
      </p:sp>
      <p:sp>
        <p:nvSpPr>
          <p:cNvPr id="14" name="Text 12"/>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7999B"/>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VAT refund at HaNoi Tax Office: scenario model (one-page)</dc:title>
  <dc:subject>PptxGenJS Presentation</dc:subject>
  <dc:creator>PptxGenJS</dc:creator>
  <cp:lastModifiedBy>PptxGenJS</cp:lastModifiedBy>
  <cp:revision>1</cp:revision>
  <dcterms:created xsi:type="dcterms:W3CDTF">2026-09-27T02:09:25Z</dcterms:created>
  <dcterms:modified xsi:type="dcterms:W3CDTF">2026-09-27T02:09:25Z</dcterms:modified>
</cp:coreProperties>
</file>