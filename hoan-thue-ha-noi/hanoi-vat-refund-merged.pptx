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YMVN decision needed in advance: is carry-forward acceptable? Under Scenario 2 the amount is not refunded in cash; it is offset against future tax payable, and it is not known how long full utilisation would take. The answer decides whether the file closes (Scenario 2.1) or moves on to Step 2 (Scenario 2.2).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either closes the case or escalates it to the next level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up lead to a closed case. Arrows down show a negative outcome, which moves the case to the next step.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78308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89888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Carry-forward accepted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380744"/>
            <a:ext cx="841248" cy="155448"/>
          </a:xfrm>
          <a:prstGeom prst="rect">
            <a:avLst/>
          </a:prstGeom>
          <a:solidFill>
            <a:srgbClr val="ED8B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423160" y="1325880"/>
            <a:ext cx="9308592" cy="731520"/>
          </a:xfrm>
          <a:prstGeom prst="rect">
            <a:avLst/>
          </a:prstGeom>
          <a:solidFill>
            <a:srgbClr val="F1F6E4"/>
          </a:solidFill>
          <a:ln w="15875">
            <a:solidFill>
              <a:srgbClr val="86BC2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14600" y="1389888"/>
            <a:ext cx="9125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b="1" spc="100" kern="0" dirty="0">
                <a:solidFill>
                  <a:srgbClr val="3C8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CLOSED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processed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reached at Step 1, at Step 2, or through the final unified position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0817352" y="1380744"/>
            <a:ext cx="841248" cy="155448"/>
          </a:xfrm>
          <a:prstGeom prst="rect">
            <a:avLst/>
          </a:prstGeom>
          <a:solidFill>
            <a:srgbClr val="3C8F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FAVOURABLE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2331720" cy="960120"/>
          </a:xfrm>
          <a:prstGeom prst="rect">
            <a:avLst/>
          </a:prstGeom>
          <a:solidFill>
            <a:srgbClr val="046A38"/>
          </a:solidFill>
          <a:ln w="15875">
            <a:solidFill>
              <a:srgbClr val="046A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72968"/>
            <a:ext cx="21488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b="1" spc="100" kern="0" dirty="0">
                <a:solidFill>
                  <a:srgbClr val="CDE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with HaNoi Tax Office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4F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level, informal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29000" y="3108960"/>
            <a:ext cx="2331720" cy="960120"/>
          </a:xfrm>
          <a:prstGeom prst="rect">
            <a:avLst/>
          </a:prstGeom>
          <a:solidFill>
            <a:srgbClr val="046A38"/>
          </a:solidFill>
          <a:ln w="15875">
            <a:solidFill>
              <a:srgbClr val="046A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3172968"/>
            <a:ext cx="21488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b="1" spc="100" kern="0" dirty="0">
                <a:solidFill>
                  <a:srgbClr val="CDE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letter to HaNoi Tax Office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4F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DT; consider MoF, Japan Embassy, JCCI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400800" y="3108960"/>
            <a:ext cx="2331720" cy="960120"/>
          </a:xfrm>
          <a:prstGeom prst="rect">
            <a:avLst/>
          </a:prstGeom>
          <a:solidFill>
            <a:srgbClr val="046A38"/>
          </a:solidFill>
          <a:ln w="15875">
            <a:solidFill>
              <a:srgbClr val="046A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3172968"/>
            <a:ext cx="21488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b="1" spc="100" kern="0" dirty="0">
                <a:solidFill>
                  <a:srgbClr val="CDE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Petition to the Ministry of Finance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E4F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 convenes an inter-agency meeting (most likely) or replies in writing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372600" y="3108960"/>
            <a:ext cx="2331720" cy="96012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64040" y="3172968"/>
            <a:ext cx="21488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b="1" spc="1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unified position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0D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MoF, DT and HaNoi Tax Office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732520" y="3589020"/>
            <a:ext cx="64008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1188720" y="2057400"/>
            <a:ext cx="91" cy="1051560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1280160" y="21488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C8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2.1: </a:t>
            </a:r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carry-forward only; YMVN accepts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 flipV="1">
            <a:off x="2606040" y="2057400"/>
            <a:ext cx="91" cy="1051560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2697480" y="2148840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C8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1: </a:t>
            </a:r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 flipV="1">
            <a:off x="3840480" y="2057400"/>
            <a:ext cx="91" cy="1051560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3931920" y="2148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C8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A: </a:t>
            </a:r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Tax Office approves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3C8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B: </a:t>
            </a:r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meeting (DT chairs) agrees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 flipV="1">
            <a:off x="9784080" y="2057400"/>
            <a:ext cx="91" cy="1051560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9875520" y="2148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C8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position: </a:t>
            </a:r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approved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4434840"/>
            <a:ext cx="233172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498848"/>
            <a:ext cx="2148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 3, 2.2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refund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Tax Office rejects the refund, or allows carry-forward only and YMVN still wants a refund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874520" y="4489704"/>
            <a:ext cx="841248" cy="155448"/>
          </a:xfrm>
          <a:prstGeom prst="rect">
            <a:avLst/>
          </a:prstGeom>
          <a:solidFill>
            <a:srgbClr val="DA29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3429000" y="4434840"/>
            <a:ext cx="233172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20440" y="4498848"/>
            <a:ext cx="21488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RESPONSES B–D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Rejection maintained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rejection or no response, joint meeting still negative, or unilateral inspection minutes. YMVN records disagreement in any minutes and asks to hold the file pending MoF guidance.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4846320" y="4489704"/>
            <a:ext cx="841248" cy="155448"/>
          </a:xfrm>
          <a:prstGeom prst="rect">
            <a:avLst/>
          </a:prstGeom>
          <a:solidFill>
            <a:srgbClr val="DA29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6400800" y="4434840"/>
            <a:ext cx="233172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97999B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6492240" y="4498848"/>
            <a:ext cx="2148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CONTINGENCY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 refers the file back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YMVN returns to discussions with HaNoi Tax Office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372600" y="4434840"/>
            <a:ext cx="2331720" cy="128016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464040" y="4498848"/>
            <a:ext cx="2148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YMVN considers further recourse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complaint: low chance of success, as MoF and DT have already aligned.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lawsuit before the court.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rests with YMVN.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10789920" y="4489704"/>
            <a:ext cx="841248" cy="155448"/>
          </a:xfrm>
          <a:prstGeom prst="rect">
            <a:avLst/>
          </a:prstGeom>
          <a:solidFill>
            <a:srgbClr val="DA29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623060" y="4069080"/>
            <a:ext cx="91" cy="365760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594860" y="4069080"/>
            <a:ext cx="91" cy="365760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538460" y="4069080"/>
            <a:ext cx="91" cy="365760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566660" y="4069080"/>
            <a:ext cx="91" cy="365760"/>
          </a:xfrm>
          <a:prstGeom prst="line">
            <a:avLst/>
          </a:prstGeom>
          <a:noFill/>
          <a:ln w="19050">
            <a:solidFill>
              <a:srgbClr val="97999B"/>
            </a:solidFill>
            <a:prstDash val="dash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2788920" y="4846320"/>
            <a:ext cx="32004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3108960" y="3589020"/>
            <a:ext cx="91" cy="1257300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08960" y="3589020"/>
            <a:ext cx="32004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2807208" y="4114800"/>
            <a:ext cx="603504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A2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760720" y="4846320"/>
            <a:ext cx="32004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6080760" y="3589020"/>
            <a:ext cx="91" cy="1257300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80760" y="3589020"/>
            <a:ext cx="32004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5779008" y="4114800"/>
            <a:ext cx="603504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A2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57200" y="6217920"/>
            <a:ext cx="256032" cy="164592"/>
          </a:xfrm>
          <a:prstGeom prst="rect">
            <a:avLst/>
          </a:prstGeom>
          <a:solidFill>
            <a:srgbClr val="046A38"/>
          </a:solidFill>
          <a:ln w="12700">
            <a:solidFill>
              <a:srgbClr val="046A3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86384" y="6172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YMVN action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606040" y="6217920"/>
            <a:ext cx="256032" cy="164592"/>
          </a:xfrm>
          <a:prstGeom prst="rect">
            <a:avLst/>
          </a:prstGeom>
          <a:solidFill>
            <a:srgbClr val="F1F6E4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935224" y="6172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Favourable outcome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754880" y="6217920"/>
            <a:ext cx="2560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BCB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01184" y="6217920"/>
            <a:ext cx="109728" cy="64008"/>
          </a:xfrm>
          <a:prstGeom prst="rect">
            <a:avLst/>
          </a:prstGeom>
          <a:solidFill>
            <a:srgbClr val="ED8B00"/>
          </a:solidFill>
          <a:ln w="6350">
            <a:solidFill>
              <a:srgbClr val="ED8B0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084064" y="6172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 outcome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903720" y="6217920"/>
            <a:ext cx="2560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BCB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050024" y="6217920"/>
            <a:ext cx="109728" cy="64008"/>
          </a:xfrm>
          <a:prstGeom prst="rect">
            <a:avLst/>
          </a:prstGeom>
          <a:solidFill>
            <a:srgbClr val="DA291C"/>
          </a:solidFill>
          <a:ln w="6350">
            <a:solidFill>
              <a:srgbClr val="DA291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232904" y="6172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outcome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Step 2 letter makes three points and signals the escalation path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291840" cy="4663440"/>
          </a:xfrm>
          <a:prstGeom prst="rect">
            <a:avLst/>
          </a:prstGeom>
          <a:solidFill>
            <a:srgbClr val="1C3D26"/>
          </a:solidFill>
          <a:ln w="12700">
            <a:solidFill>
              <a:srgbClr val="1C3D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2743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900" b="1" spc="1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endParaRPr lang="en-US" sz="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Tax Office</a:t>
            </a:r>
            <a:endParaRPr lang="en-US" sz="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900" b="1" spc="1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</a:t>
            </a:r>
            <a:endParaRPr lang="en-US" sz="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Taxation, the authority that issued the guidance</a:t>
            </a:r>
            <a:endParaRPr lang="en-US" sz="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900" b="1" spc="1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COPYING</a:t>
            </a:r>
            <a:endParaRPr lang="en-US" sz="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Finance, the Japan Embassy, JCCI</a:t>
            </a:r>
            <a:endParaRPr lang="en-US" sz="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900" b="1" spc="1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Immediately after Step 1, if HaNoi Tax Office’s position is unfavourable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206240" y="1554480"/>
            <a:ext cx="548640" cy="548640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06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508760"/>
            <a:ext cx="676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the refund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YMVN reads the DT’s guidance as confirming eligibility for the refund, and asks HaNoi Tax Office to process it.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06240" y="3108960"/>
            <a:ext cx="548640" cy="548640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0624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3063240"/>
            <a:ext cx="676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 a joint meeting if the guidance is unclear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HaNoi Tax Office considers the guidance insufficiently clear, it is asked to report to the DT and arrange a meeting of the parties (with the MoF, the Japan Embassy and JCCI where appropriate) to reach a unified view.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06240" y="4663440"/>
            <a:ext cx="548640" cy="548640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0624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4617720"/>
            <a:ext cx="676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intention to escalate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HaNoi Tax Office still does not agree, YMVN will petition the Ministry of Finance and copy the relevant parties.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VAT refund at HaNoi Tax Office: scenario model (merged)</dc:title>
  <dc:subject>PptxGenJS Presentation</dc:subject>
  <dc:creator>PptxGenJS</dc:creator>
  <cp:lastModifiedBy>PptxGenJS</cp:lastModifiedBy>
  <cp:revision>1</cp:revision>
  <dcterms:created xsi:type="dcterms:W3CDTF">2026-09-27T02:21:05Z</dcterms:created>
  <dcterms:modified xsi:type="dcterms:W3CDTF">2026-09-27T02:21:05Z</dcterms:modified>
</cp:coreProperties>
</file>